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243584"/>
            <a:ext cx="749807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2272E"/>
                </a:solidFill>
                <a:latin typeface="PingFang SC"/>
              </a:defRPr>
            </a:pPr>
            <a:r>
              <a:t>基于 Flink 的动态 Kafka Topic</a:t>
            </a:r>
            <a:br/>
            <a:r>
              <a:t>发现与订阅机制研究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43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B42025"/>
                </a:solidFill>
                <a:latin typeface="PingFang SC"/>
              </a:defRPr>
            </a:pPr>
            <a:r>
              <a:t>本科毕业设计答辩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102352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D6670"/>
                </a:solidFill>
                <a:latin typeface="PingFang SC"/>
              </a:defRPr>
            </a:pPr>
            <a:r>
              <a:t>答辩人：胡文杰    指导教师：任锐</a:t>
            </a:r>
            <a:br/>
            <a:r>
              <a:t>上海交通大学    2026 年 5 月</a:t>
            </a:r>
          </a:p>
        </p:txBody>
      </p:sp>
      <p:pic>
        <p:nvPicPr>
          <p:cNvPr id="6" name="Picture 5" descr="dynamic_sink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914400"/>
            <a:ext cx="498348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72E"/>
                </a:solidFill>
                <a:latin typeface="PingFang SC"/>
              </a:defRPr>
            </a:pPr>
            <a:r>
              <a:t>汇报提纲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D6670"/>
                </a:solidFill>
                <a:latin typeface="PingFang SC"/>
              </a:defRPr>
            </a:pPr>
            <a:r>
              <a:t>围绕“为什么做、怎么做、做得如何、还差什么”展开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143000" cy="41148"/>
          </a:xfrm>
          <a:prstGeom prst="rect">
            <a:avLst/>
          </a:prstGeom>
          <a:solidFill>
            <a:srgbClr val="B4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32588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2025"/>
                </a:solidFill>
                <a:latin typeface="PingFang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3075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2272E"/>
                </a:solidFill>
                <a:latin typeface="PingFang SC"/>
              </a:defRPr>
            </a:pPr>
            <a:r>
              <a:t>研究背景与问题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325880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D6670"/>
                </a:solidFill>
                <a:latin typeface="PingFang SC"/>
              </a:defRPr>
            </a:pPr>
            <a:r>
              <a:t>静态 Kafka Sink 难以适应运行期 Topic 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6712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2025"/>
                </a:solidFill>
                <a:latin typeface="PingFang SC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2272E"/>
                </a:solidFill>
                <a:latin typeface="PingFang SC"/>
              </a:defRPr>
            </a:pPr>
            <a:r>
              <a:t>需求与总体设计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167128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D6670"/>
                </a:solidFill>
                <a:latin typeface="PingFang SC"/>
              </a:defRPr>
            </a:pPr>
            <a:r>
              <a:t>动态发现、逻辑路由、writer 管理、Checkpoint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00837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2025"/>
                </a:solidFill>
                <a:latin typeface="PingFang SC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9900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2272E"/>
                </a:solidFill>
                <a:latin typeface="PingFang SC"/>
              </a:defRPr>
            </a:pPr>
            <a:r>
              <a:t>核心实现机制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008376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D6670"/>
                </a:solidFill>
                <a:latin typeface="PingFang SC"/>
              </a:defRPr>
            </a:pPr>
            <a:r>
              <a:t>动态外壳复用静态 KafkaSink 内核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849624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2025"/>
                </a:solidFill>
                <a:latin typeface="PingFang SC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8313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2272E"/>
                </a:solidFill>
                <a:latin typeface="PingFang SC"/>
              </a:defRPr>
            </a:pPr>
            <a:r>
              <a:t>实验验证结果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849624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D6670"/>
                </a:solidFill>
                <a:latin typeface="PingFang SC"/>
              </a:defRPr>
            </a:pPr>
            <a:r>
              <a:t>发现实时性、吞吐、扩展性、事务路径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69087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2025"/>
                </a:solidFill>
                <a:latin typeface="PingFang SC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46725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2272E"/>
                </a:solidFill>
                <a:latin typeface="PingFang SC"/>
              </a:defRPr>
            </a:pPr>
            <a:r>
              <a:t>总结与展望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690872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D6670"/>
                </a:solidFill>
                <a:latin typeface="PingFang SC"/>
              </a:defRPr>
            </a:pPr>
            <a:r>
              <a:t>原型价值、局限与后续优化方向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基于 Flink 的动态 Kafka Topic 发现与订阅机制研究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37376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72E"/>
                </a:solidFill>
                <a:latin typeface="PingFang SC"/>
              </a:defRPr>
            </a:pPr>
            <a: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D6670"/>
                </a:solidFill>
                <a:latin typeface="PingFang SC"/>
              </a:defRPr>
            </a:pPr>
            <a:r>
              <a:t>实时链路中的下游 Kafka Topic 并不总是稳定不变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143000" cy="41148"/>
          </a:xfrm>
          <a:prstGeom prst="rect">
            <a:avLst/>
          </a:prstGeom>
          <a:solidFill>
            <a:srgbClr val="B4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afka_flink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120640" cy="3246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72200" y="1325880"/>
            <a:ext cx="4846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325880"/>
            <a:ext cx="73152" cy="960120"/>
          </a:xfrm>
          <a:prstGeom prst="rect">
            <a:avLst/>
          </a:prstGeom>
          <a:solidFill>
            <a:srgbClr val="B4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3368" y="1472184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B42025"/>
                </a:solidFill>
                <a:latin typeface="PingFang SC"/>
              </a:defRPr>
            </a:pPr>
            <a:r>
              <a:t>场景变化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1856231"/>
            <a:ext cx="4526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多租户、按日期/地域拆分、灰度迁移、容灾切换都会带来 Topic 集合变化。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542032"/>
            <a:ext cx="4846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2542032"/>
            <a:ext cx="73152" cy="960120"/>
          </a:xfrm>
          <a:prstGeom prst="rect">
            <a:avLst/>
          </a:prstGeom>
          <a:solidFill>
            <a:srgbClr val="CE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688336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CE7023"/>
                </a:solidFill>
                <a:latin typeface="PingFang SC"/>
              </a:defRPr>
            </a:pPr>
            <a:r>
              <a:t>静态 Sink 的问题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3072384"/>
            <a:ext cx="4526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传统 KafkaSink 在作业构建阶段绑定目标 Topic；目标变化通常意味着改配置、停作业、重新提交。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58184"/>
            <a:ext cx="4846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758184"/>
            <a:ext cx="73152" cy="960120"/>
          </a:xfrm>
          <a:prstGeom prst="rect">
            <a:avLst/>
          </a:prstGeom>
          <a:solidFill>
            <a:srgbClr val="144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3904488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44879"/>
                </a:solidFill>
                <a:latin typeface="PingFang SC"/>
              </a:defRPr>
            </a:pPr>
            <a:r>
              <a:t>本文关注点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288536"/>
            <a:ext cx="4526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不是“如何写入一个 Topic”，而是“目标集合变化时，Sink 如何发现、路由、写出并可恢复”。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基于 Flink 的动态 Kafka Topic 发现与订阅机制研究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37376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72E"/>
                </a:solidFill>
                <a:latin typeface="PingFang SC"/>
              </a:defRPr>
            </a:pPr>
            <a:r>
              <a:t>问题定义与研究目标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D6670"/>
                </a:solidFill>
                <a:latin typeface="PingFang SC"/>
              </a:defRPr>
            </a:pPr>
            <a:r>
              <a:t>把目标变化纳入 Flink Sink 的运行时与容错链路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143000" cy="41148"/>
          </a:xfrm>
          <a:prstGeom prst="rect">
            <a:avLst/>
          </a:prstGeom>
          <a:solidFill>
            <a:srgbClr val="B4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486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"/>
              </a:spcAft>
              <a:defRPr sz="1700">
                <a:solidFill>
                  <a:srgbClr val="22272E"/>
                </a:solidFill>
                <a:latin typeface="PingFang SC"/>
              </a:defRPr>
            </a:pPr>
            <a:r>
              <a:t>动态 Topic 发现：按正则周期查询 Kafka 元数据，识别新增可写目标</a:t>
            </a:r>
          </a:p>
          <a:p>
            <a:pPr>
              <a:spcAft>
                <a:spcPts val="120"/>
              </a:spcAft>
              <a:defRPr sz="1700">
                <a:solidFill>
                  <a:srgbClr val="22272E"/>
                </a:solidFill>
                <a:latin typeface="PingFang SC"/>
              </a:defRPr>
            </a:pPr>
            <a:r>
              <a:t>自动订阅/扩写：发现目标后维护 active routes，并懒创建底层 writer</a:t>
            </a:r>
          </a:p>
          <a:p>
            <a:pPr>
              <a:spcAft>
                <a:spcPts val="120"/>
              </a:spcAft>
              <a:defRPr sz="1700">
                <a:solidFill>
                  <a:srgbClr val="22272E"/>
                </a:solidFill>
                <a:latin typeface="PingFang SC"/>
              </a:defRPr>
            </a:pPr>
            <a:r>
              <a:t>动态路由：业务 route id 与物理 Kafka Topic 解耦，支持运行期 route 更新</a:t>
            </a:r>
          </a:p>
          <a:p>
            <a:pPr>
              <a:spcAft>
                <a:spcPts val="120"/>
              </a:spcAft>
              <a:defRPr sz="1700">
                <a:solidFill>
                  <a:srgbClr val="22272E"/>
                </a:solidFill>
                <a:latin typeface="PingFang SC"/>
              </a:defRPr>
            </a:pPr>
            <a:r>
              <a:t>状态与提交：route 级 writer 状态进入 Checkpoint，committable 按 route 分组提交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92240" y="1325880"/>
          <a:ext cx="48463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44879"/>
                          </a:solidFill>
                          <a:latin typeface="PingFang SC"/>
                        </a:defRPr>
                      </a:pPr>
                      <a:r>
                        <a:t>指标</a:t>
                      </a:r>
                    </a:p>
                  </a:txBody>
                  <a:tcPr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44879"/>
                          </a:solidFill>
                          <a:latin typeface="PingFang SC"/>
                        </a:defRPr>
                      </a:pPr>
                      <a:r>
                        <a:t>目标</a:t>
                      </a:r>
                    </a:p>
                  </a:txBody>
                  <a:tcPr marL="45720" marR="45720" marT="27432" marB="27432"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发现实时性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新增匹配 Topic 首次写入 ≤ 3 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吞吐可接受性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动态 2-route 相对静态基线下降 ≤ 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小规模扩展性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2-route 到 4-route 下降 ≤ 10%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Checkpoint 协同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稳态完成时延 ≤ 100 ms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事务路径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EXACTLY_ONCE 至少 5 次 Checkpoint 且双 Topic 输出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46520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基于 Flink 的动态 Kafka Topic 发现与订阅机制研究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72E"/>
                </a:solidFill>
                <a:latin typeface="PingFang SC"/>
              </a:defRPr>
            </a:pPr>
            <a:r>
              <a:t>项目代码结构评审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D6670"/>
                </a:solidFill>
                <a:latin typeface="PingFang SC"/>
              </a:defRPr>
            </a:pPr>
            <a:r>
              <a:t>当前仓库由 connector 原型、验证 app 与论文材料组成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143000" cy="41148"/>
          </a:xfrm>
          <a:prstGeom prst="rect">
            <a:avLst/>
          </a:prstGeom>
          <a:solidFill>
            <a:srgbClr val="B4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73152" cy="1417320"/>
          </a:xfrm>
          <a:prstGeom prst="rect">
            <a:avLst/>
          </a:prstGeom>
          <a:solidFill>
            <a:srgbClr val="144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472184"/>
            <a:ext cx="3154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44879"/>
                </a:solidFill>
                <a:latin typeface="PingFang SC"/>
              </a:defRPr>
            </a:pPr>
            <a:r>
              <a:t>connector 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856231"/>
            <a:ext cx="315467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核心交付：DynamicKafkaSink、DynamicKafkaSinkWriter、元数据服务、route 状态、committable 与 committer。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73152" cy="1417320"/>
          </a:xfrm>
          <a:prstGeom prst="rect">
            <a:avLst/>
          </a:prstGeom>
          <a:solidFill>
            <a:srgbClr val="1F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472184"/>
            <a:ext cx="3154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F8B56"/>
                </a:solidFill>
                <a:latin typeface="PingFang SC"/>
              </a:defRPr>
            </a:pPr>
            <a:r>
              <a:t>app 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856231"/>
            <a:ext cx="315467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实验载体：DynamicJob、AutoDiscoveryJob、RegularJob；用于生成数据、广播 route 更新并验证写入。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73152" cy="1417320"/>
          </a:xfrm>
          <a:prstGeom prst="rect">
            <a:avLst/>
          </a:prstGeom>
          <a:solidFill>
            <a:srgbClr val="B4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472184"/>
            <a:ext cx="3154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B42025"/>
                </a:solidFill>
                <a:latin typeface="PingFang SC"/>
              </a:defRPr>
            </a:pPr>
            <a:r>
              <a:t>docs 与配置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856231"/>
            <a:ext cx="315467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论文、实验 runbook、架构图、多个 config.experiment*.yaml；具备较完整复现实验材料。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46120"/>
            <a:ext cx="101498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"/>
              </a:spcAft>
              <a:defRPr sz="1600">
                <a:solidFill>
                  <a:srgbClr val="22272E"/>
                </a:solidFill>
                <a:latin typeface="PingFang SC"/>
              </a:defRPr>
            </a:pPr>
            <a:r>
              <a:t>技术栈：Java 17、Flink 2.1.0、Kafka clients 4.2.0、Maven 多模块工程</a:t>
            </a:r>
          </a:p>
          <a:p>
            <a:pPr>
              <a:spcAft>
                <a:spcPts val="120"/>
              </a:spcAft>
              <a:defRPr sz="1600">
                <a:solidFill>
                  <a:srgbClr val="22272E"/>
                </a:solidFill>
                <a:latin typeface="PingFang SC"/>
              </a:defRPr>
            </a:pPr>
            <a:r>
              <a:t>实现思路清晰：动态能力集中在 connector，app 仅作验证载体</a:t>
            </a:r>
          </a:p>
          <a:p>
            <a:pPr>
              <a:spcAft>
                <a:spcPts val="120"/>
              </a:spcAft>
              <a:defRPr sz="1600">
                <a:solidFill>
                  <a:srgbClr val="22272E"/>
                </a:solidFill>
                <a:latin typeface="PingFang SC"/>
              </a:defRPr>
            </a:pPr>
            <a:r>
              <a:t>可答辩亮点：不是手写 producer，而是接入 Flink 统一 Sink API 与 Checkpoint/Committer 机制</a:t>
            </a:r>
          </a:p>
          <a:p>
            <a:pPr>
              <a:spcAft>
                <a:spcPts val="120"/>
              </a:spcAft>
              <a:defRPr sz="1600">
                <a:solidFill>
                  <a:srgbClr val="22272E"/>
                </a:solidFill>
                <a:latin typeface="PingFang SC"/>
              </a:defRPr>
            </a:pPr>
            <a:r>
              <a:t>需如实说明：实验为本地小规模原型，Exactly-once 仍缺少复杂故障注入验证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基于 Flink 的动态 Kafka Topic 发现与订阅机制研究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37376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72E"/>
                </a:solidFill>
                <a:latin typeface="PingFang SC"/>
              </a:defRPr>
            </a:pPr>
            <a:r>
              <a:t>总体架构设计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D6670"/>
                </a:solidFill>
                <a:latin typeface="PingFang SC"/>
              </a:defRPr>
            </a:pPr>
            <a:r>
              <a:t>“动态外壳 + 静态内核”：外层管理变化，内层复用 KafkaSink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143000" cy="41148"/>
          </a:xfrm>
          <a:prstGeom prst="rect">
            <a:avLst/>
          </a:prstGeom>
          <a:solidFill>
            <a:srgbClr val="B4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ynamic_sink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62940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389888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389888"/>
            <a:ext cx="73152" cy="841248"/>
          </a:xfrm>
          <a:prstGeom prst="rect">
            <a:avLst/>
          </a:prstGeom>
          <a:solidFill>
            <a:srgbClr val="144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6408" y="15361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44879"/>
                </a:solidFill>
                <a:latin typeface="PingFang SC"/>
              </a:defRPr>
            </a:pPr>
            <a:r>
              <a:t>四层职责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1920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配置构建层 → 元数据发现层 → 运行时路由层 → 状态与提交层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487168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2487168"/>
            <a:ext cx="73152" cy="1143000"/>
          </a:xfrm>
          <a:prstGeom prst="rect">
            <a:avLst/>
          </a:prstGeom>
          <a:solidFill>
            <a:srgbClr val="B4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2633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B42025"/>
                </a:solidFill>
                <a:latin typeface="PingFang SC"/>
              </a:defRPr>
            </a:pPr>
            <a:r>
              <a:t>关键取舍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3017520"/>
            <a:ext cx="3291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不绕开 Flink Sink API；每个物理 route 下沉为普通 KafkaSink writer，动态层只做解析、生命周期和包装。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8862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3886200"/>
            <a:ext cx="73152" cy="914400"/>
          </a:xfrm>
          <a:prstGeom prst="rect">
            <a:avLst/>
          </a:prstGeom>
          <a:solidFill>
            <a:srgbClr val="1F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40325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F8B56"/>
                </a:solidFill>
                <a:latin typeface="PingFang SC"/>
              </a:defRPr>
            </a:pPr>
            <a:r>
              <a:t>收益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44165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降低原型复杂度，同时让动态 route 能进入原生 Checkpoint 与事务提交流程。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基于 Flink 的动态 Kafka Topic 发现与订阅机制研究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37376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72E"/>
                </a:solidFill>
                <a:latin typeface="PingFang SC"/>
              </a:defRPr>
            </a:pPr>
            <a:r>
              <a:t>核心流程：发现、路由与写入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D6670"/>
                </a:solidFill>
                <a:latin typeface="PingFang SC"/>
              </a:defRPr>
            </a:pPr>
            <a:r>
              <a:t>Writer 同时处理数据事件和 route 更新事件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143000" cy="41148"/>
          </a:xfrm>
          <a:prstGeom prst="rect">
            <a:avLst/>
          </a:prstGeom>
          <a:solidFill>
            <a:srgbClr val="B4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ynamic_sink_call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5943600" cy="43434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12280" y="1417320"/>
          <a:ext cx="46177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9240"/>
                <a:gridCol w="1539240"/>
                <a:gridCol w="1539240"/>
              </a:tblGrid>
              <a:tr h="56007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4879"/>
                          </a:solidFill>
                          <a:latin typeface="PingFang SC"/>
                        </a:defRPr>
                      </a:pPr>
                      <a:r>
                        <a:t>输入</a:t>
                      </a:r>
                    </a:p>
                  </a:txBody>
                  <a:tcPr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4879"/>
                          </a:solidFill>
                          <a:latin typeface="PingFang SC"/>
                        </a:defRPr>
                      </a:pPr>
                      <a:r>
                        <a:t>处理逻辑</a:t>
                      </a:r>
                    </a:p>
                  </a:txBody>
                  <a:tcPr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4879"/>
                          </a:solidFill>
                          <a:latin typeface="PingFang SC"/>
                        </a:defRPr>
                      </a:pPr>
                      <a:r>
                        <a:t>结果</a:t>
                      </a:r>
                    </a:p>
                  </a:txBody>
                  <a:tcPr marL="45720" marR="45720" marT="27432" marB="27432">
                    <a:solidFill>
                      <a:srgbClr val="F2F5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route 更新事件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更新 explicitRoutesById，清理解析缓存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后续数据使用新路由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携带 routeId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解析逻辑 route 到物理 Topic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写入对应 writer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不携带 routeId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按周期刷新元数据，遍历 activeRouteIds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fan-out 到当前活动目标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03720" y="3950208"/>
            <a:ext cx="4434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"/>
              </a:spcAft>
              <a:defRPr sz="1280">
                <a:solidFill>
                  <a:srgbClr val="22272E"/>
                </a:solidFill>
                <a:latin typeface="PingFang SC"/>
              </a:defRPr>
            </a:pPr>
            <a:r>
              <a:t>Topic 发现：AdminClient.listTopics() + stream_pattern 正则匹配</a:t>
            </a:r>
          </a:p>
          <a:p>
            <a:pPr>
              <a:spcAft>
                <a:spcPts val="120"/>
              </a:spcAft>
              <a:defRPr sz="1280">
                <a:solidFill>
                  <a:srgbClr val="22272E"/>
                </a:solidFill>
                <a:latin typeface="PingFang SC"/>
              </a:defRPr>
            </a:pPr>
            <a:r>
              <a:t>writer 创建：computeIfAbsent 懒创建，避免刷新时重建全部 producer</a:t>
            </a:r>
          </a:p>
          <a:p>
            <a:pPr>
              <a:spcAft>
                <a:spcPts val="120"/>
              </a:spcAft>
              <a:defRPr sz="1280">
                <a:solidFill>
                  <a:srgbClr val="22272E"/>
                </a:solidFill>
                <a:latin typeface="PingFang SC"/>
              </a:defRPr>
            </a:pPr>
            <a:r>
              <a:t>route id：包含 cluster、topic、bootstrapServers，支撑状态恢复与提交分组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基于 Flink 的动态 Kafka Topic 发现与订阅机制研究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37376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72E"/>
                </a:solidFill>
                <a:latin typeface="PingFang SC"/>
              </a:defRPr>
            </a:pPr>
            <a:r>
              <a:t>状态与 Exactly-once 提交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D6670"/>
                </a:solidFill>
                <a:latin typeface="PingFang SC"/>
              </a:defRPr>
            </a:pPr>
            <a:r>
              <a:t>动态 route 不能游离在 Flink 容错体系之外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143000" cy="41148"/>
          </a:xfrm>
          <a:prstGeom prst="rect">
            <a:avLst/>
          </a:prstGeom>
          <a:solidFill>
            <a:srgbClr val="B4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4983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73152" cy="1143000"/>
          </a:xfrm>
          <a:prstGeom prst="rect">
            <a:avLst/>
          </a:prstGeom>
          <a:solidFill>
            <a:srgbClr val="144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426463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44879"/>
                </a:solidFill>
                <a:latin typeface="PingFang SC"/>
              </a:defRPr>
            </a:pPr>
            <a:r>
              <a:t>route 级状态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810512"/>
            <a:ext cx="46634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DynamicKafkaSinkWriterState 记录 routeId、cluster、topic、事务前缀、producer 配置和底层 KafkaWriterState。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4983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697480"/>
            <a:ext cx="73152" cy="1143000"/>
          </a:xfrm>
          <a:prstGeom prst="rect">
            <a:avLst/>
          </a:prstGeom>
          <a:solidFill>
            <a:srgbClr val="B4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84378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B42025"/>
                </a:solidFill>
                <a:latin typeface="PingFang SC"/>
              </a:defRPr>
            </a:pPr>
            <a:r>
              <a:t>route 级 committable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227832"/>
            <a:ext cx="46634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prepareCommit() 将底层 KafkaCommittable 包装为 DynamicKafkaCommittable，提交器按 route 分组委托。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114800"/>
            <a:ext cx="4983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114800"/>
            <a:ext cx="73152" cy="1143000"/>
          </a:xfrm>
          <a:prstGeom prst="rect">
            <a:avLst/>
          </a:prstGeom>
          <a:solidFill>
            <a:srgbClr val="1F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2611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F8B56"/>
                </a:solidFill>
                <a:latin typeface="PingFang SC"/>
              </a:defRPr>
            </a:pPr>
            <a:r>
              <a:t>事务前缀隔离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645152"/>
            <a:ext cx="46634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EXACTLY_ONCE 模式下为每个物理 route 派生事务前缀，避免不同目标混用事务上下文。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0" y="1325880"/>
          <a:ext cx="493776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</a:tblGrid>
              <a:tr h="62483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44879"/>
                          </a:solidFill>
                          <a:latin typeface="PingFang SC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44879"/>
                          </a:solidFill>
                          <a:latin typeface="PingFang SC"/>
                        </a:defRPr>
                      </a:pPr>
                      <a:r>
                        <a:t>设计要点</a:t>
                      </a:r>
                    </a:p>
                  </a:txBody>
                  <a:tcPr marL="45720" marR="45720" marT="27432" marB="27432">
                    <a:solidFill>
                      <a:srgbClr val="F2F5F8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构建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要求提供 transactional-id-prefix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写入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按物理 route 派生事务前缀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预提交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包装底层 committable，携带 route 元数据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提交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DynamicKafkaCommitter 按 route 分发提交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回收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非事务路径清理退役 writer；EO 路径保守保留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94360" y="6446520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基于 Flink 的动态 Kafka Topic 发现与订阅机制研究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37376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72E"/>
                </a:solidFill>
                <a:latin typeface="PingFang SC"/>
              </a:defRPr>
            </a:pPr>
            <a:r>
              <a:t>实验设计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D6670"/>
                </a:solidFill>
                <a:latin typeface="PingFang SC"/>
              </a:defRPr>
            </a:pPr>
            <a:r>
              <a:t>用本地单机原型验证机制闭环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143000" cy="41148"/>
          </a:xfrm>
          <a:prstGeom prst="rect">
            <a:avLst/>
          </a:prstGeom>
          <a:solidFill>
            <a:srgbClr val="B4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325880"/>
          <a:ext cx="1078992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55517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4879"/>
                          </a:solidFill>
                          <a:latin typeface="PingFang SC"/>
                        </a:defRPr>
                      </a:pPr>
                      <a:r>
                        <a:t>需求</a:t>
                      </a:r>
                    </a:p>
                  </a:txBody>
                  <a:tcPr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4879"/>
                          </a:solidFill>
                          <a:latin typeface="PingFang SC"/>
                        </a:defRPr>
                      </a:pPr>
                      <a:r>
                        <a:t>实验</a:t>
                      </a:r>
                    </a:p>
                  </a:txBody>
                  <a:tcPr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4879"/>
                          </a:solidFill>
                          <a:latin typeface="PingFang SC"/>
                        </a:defRPr>
                      </a:pPr>
                      <a:r>
                        <a:t>指标/判定</a:t>
                      </a:r>
                    </a:p>
                  </a:txBody>
                  <a:tcPr marL="45720" marR="45720" marT="27432" marB="27432">
                    <a:solidFill>
                      <a:srgbClr val="F2F5F8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动态 Topic 发现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AutoDiscoveryJob 运行中新增 Topic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首次写入延迟 ≤ 3 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动态路由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DynamicJob + route_map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route-a/b 正确分发且均衡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吞吐可接受性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DynamicJob vs RegularJob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下降 ≤ 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小规模扩展性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2-route vs 4-route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下降 ≤ 10%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Checkpoint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开启 5s checkpoint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稳态时延 ≤ 100 ms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5517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事务路径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EXACTLY_ONCE 运行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5 次 checkpoint 且双 Topic 输出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4864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"/>
              </a:spcAft>
              <a:defRPr sz="1400">
                <a:solidFill>
                  <a:srgbClr val="22272E"/>
                </a:solidFill>
                <a:latin typeface="PingFang SC"/>
              </a:defRPr>
            </a:pPr>
            <a:r>
              <a:t>实验边界：本地 Kafka、parallelism=1、小规模 route、约 30 秒窗口</a:t>
            </a:r>
          </a:p>
          <a:p>
            <a:pPr>
              <a:spcAft>
                <a:spcPts val="120"/>
              </a:spcAft>
              <a:defRPr sz="1400">
                <a:solidFill>
                  <a:srgbClr val="22272E"/>
                </a:solidFill>
                <a:latin typeface="PingFang SC"/>
              </a:defRPr>
            </a:pPr>
            <a:r>
              <a:t>统计方式：Kafka topic offset 近似输出条数；日志观察 checkpoint 与事务提交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基于 Flink 的动态 Kafka Topic 发现与订阅机制研究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72E"/>
                </a:solidFill>
                <a:latin typeface="PingFang SC"/>
              </a:defRPr>
            </a:pPr>
            <a:r>
              <a:t>实验结果：实时性与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D6670"/>
                </a:solidFill>
                <a:latin typeface="PingFang SC"/>
              </a:defRPr>
            </a:pPr>
            <a:r>
              <a:t>发现延迟由 discovery interval 主导，route 状态快照开销较低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143000" cy="41148"/>
          </a:xfrm>
          <a:prstGeom prst="rect">
            <a:avLst/>
          </a:prstGeom>
          <a:solidFill>
            <a:srgbClr val="B4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36192"/>
            <a:ext cx="211226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42025"/>
                </a:solidFill>
                <a:latin typeface="PingFang SC"/>
              </a:defRPr>
            </a:pPr>
            <a:r>
              <a:t>2.418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21122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D6670"/>
                </a:solidFill>
                <a:latin typeface="PingFang SC"/>
              </a:defRPr>
            </a:pPr>
            <a:r>
              <a:t>新增 Topic 首次写入最大值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17320"/>
            <a:ext cx="2148840" cy="105156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7288" y="1536192"/>
            <a:ext cx="1929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4879"/>
                </a:solidFill>
                <a:latin typeface="PingFang SC"/>
              </a:defRPr>
            </a:pPr>
            <a:r>
              <a:t>1.530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1947672"/>
            <a:ext cx="1929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D6670"/>
                </a:solidFill>
                <a:latin typeface="PingFang SC"/>
              </a:defRPr>
            </a:pPr>
            <a:r>
              <a:t>发现延迟平均值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1732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4728" y="1536192"/>
            <a:ext cx="2295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8B56"/>
                </a:solidFill>
                <a:latin typeface="PingFang SC"/>
              </a:defRPr>
            </a:pPr>
            <a:r>
              <a:t>18.2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728" y="1947672"/>
            <a:ext cx="22951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D6670"/>
                </a:solidFill>
                <a:latin typeface="PingFang SC"/>
              </a:defRPr>
            </a:pPr>
            <a:r>
              <a:t>稳态 Checkpoint 平均时延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41732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67928" y="1536192"/>
            <a:ext cx="18379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E7023"/>
                </a:solidFill>
                <a:latin typeface="PingFang SC"/>
              </a:defRPr>
            </a:pPr>
            <a:r>
              <a:t>5 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1947672"/>
            <a:ext cx="18379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D6670"/>
                </a:solidFill>
                <a:latin typeface="PingFang SC"/>
              </a:defRPr>
            </a:pPr>
            <a:r>
              <a:t>连续成功 Checkpoint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051560" y="3017520"/>
          <a:ext cx="98298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4900"/>
                <a:gridCol w="4914900"/>
              </a:tblGrid>
              <a:tr h="4914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4879"/>
                          </a:solidFill>
                          <a:latin typeface="PingFang SC"/>
                        </a:defRPr>
                      </a:pPr>
                      <a:r>
                        <a:t>样本</a:t>
                      </a:r>
                    </a:p>
                  </a:txBody>
                  <a:tcPr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4879"/>
                          </a:solidFill>
                          <a:latin typeface="PingFang SC"/>
                        </a:defRPr>
                      </a:pPr>
                      <a:r>
                        <a:t>结果</a:t>
                      </a:r>
                    </a:p>
                  </a:txBody>
                  <a:tcPr marL="45720" marR="45720" marT="27432" marB="27432">
                    <a:solidFill>
                      <a:srgbClr val="F2F5F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发现实时性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6 个样本，1.074-2.418 s，满足 ≤ 3 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Checkpoint 协同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5 次成功；首次 476 ms，后续稳态均值 18.2 ms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结论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新增 Topic 可在秒级接入，route 级状态快照未明显阻塞本地小规模作业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94360" y="6446520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基于 Flink 的动态 Kafka Topic 发现与订阅机制研究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37376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72E"/>
                </a:solidFill>
                <a:latin typeface="PingFang SC"/>
              </a:defRPr>
            </a:pPr>
            <a:r>
              <a:t>实验结果：吞吐与扩展性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D6670"/>
                </a:solidFill>
                <a:latin typeface="PingFang SC"/>
              </a:defRPr>
            </a:pPr>
            <a:r>
              <a:t>动态管理层在小规模 AT_LEAST_ONCE 场景下开销较小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143000" cy="41148"/>
          </a:xfrm>
          <a:prstGeom prst="rect">
            <a:avLst/>
          </a:prstGeom>
          <a:solidFill>
            <a:srgbClr val="B4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325880"/>
          <a:ext cx="6583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/>
                <a:gridCol w="1316736"/>
                <a:gridCol w="1316736"/>
                <a:gridCol w="1316736"/>
                <a:gridCol w="1316736"/>
              </a:tblGrid>
              <a:tr h="5669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4879"/>
                          </a:solidFill>
                          <a:latin typeface="PingFang SC"/>
                        </a:defRPr>
                      </a:pPr>
                      <a:r>
                        <a:t>方案</a:t>
                      </a:r>
                    </a:p>
                  </a:txBody>
                  <a:tcPr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4879"/>
                          </a:solidFill>
                          <a:latin typeface="PingFang SC"/>
                        </a:defRPr>
                      </a:pPr>
                      <a:r>
                        <a:t>语义</a:t>
                      </a:r>
                    </a:p>
                  </a:txBody>
                  <a:tcPr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4879"/>
                          </a:solidFill>
                          <a:latin typeface="PingFang SC"/>
                        </a:defRPr>
                      </a:pPr>
                      <a:r>
                        <a:t>route 数</a:t>
                      </a:r>
                    </a:p>
                  </a:txBody>
                  <a:tcPr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4879"/>
                          </a:solidFill>
                          <a:latin typeface="PingFang SC"/>
                        </a:defRPr>
                      </a:pPr>
                      <a:r>
                        <a:t>输出总条数</a:t>
                      </a:r>
                    </a:p>
                  </a:txBody>
                  <a:tcPr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4879"/>
                          </a:solidFill>
                          <a:latin typeface="PingFang SC"/>
                        </a:defRPr>
                      </a:pPr>
                      <a:r>
                        <a:t>近似吞吐</a:t>
                      </a:r>
                    </a:p>
                  </a:txBody>
                  <a:tcPr marL="45720" marR="45720" marT="27432" marB="27432"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静态基线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AT_LEAST_ONCE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5776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192.5 条/s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动态写入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AT_LEAST_ONCE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5742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191.4 条/s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动态写入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AT_LEAST_ONCE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5763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192.1 条/s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动态写入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EXACTLY_ONCE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2092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2272E"/>
                          </a:solidFill>
                          <a:latin typeface="PingFang SC"/>
                        </a:defRPr>
                      </a:pPr>
                      <a:r>
                        <a:t>95.1 条/s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417320"/>
            <a:ext cx="2743200" cy="1024128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36407" y="1536192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8B56"/>
                </a:solidFill>
                <a:latin typeface="PingFang SC"/>
              </a:defRPr>
            </a:pPr>
            <a:r>
              <a:t>0.59%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6407" y="1947672"/>
            <a:ext cx="25237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D6670"/>
                </a:solidFill>
                <a:latin typeface="PingFang SC"/>
              </a:defRPr>
            </a:pPr>
            <a:r>
              <a:t>2-route 相对静态基线吞吐下降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2670048"/>
            <a:ext cx="2743200" cy="1024128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6407" y="2788920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4879"/>
                </a:solidFill>
                <a:latin typeface="PingFang SC"/>
              </a:defRPr>
            </a:pPr>
            <a:r>
              <a:t>≈0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7" y="3200400"/>
            <a:ext cx="25237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D6670"/>
                </a:solidFill>
                <a:latin typeface="PingFang SC"/>
              </a:defRPr>
            </a:pPr>
            <a:r>
              <a:t>4-route 未出现明显下降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3922776"/>
            <a:ext cx="2743200" cy="1024128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7" y="4041648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E7023"/>
                </a:solidFill>
                <a:latin typeface="PingFang SC"/>
              </a:defRPr>
            </a:pPr>
            <a:r>
              <a:t>约 1/2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7" y="4453128"/>
            <a:ext cx="25237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D6670"/>
                </a:solidFill>
                <a:latin typeface="PingFang SC"/>
              </a:defRPr>
            </a:pPr>
            <a:r>
              <a:t>EXACTLY_ONCE 吞吐相对 ALO 下降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D6670"/>
                </a:solidFill>
                <a:latin typeface="PingFang SC"/>
              </a:defRPr>
            </a:pPr>
            <a:r>
              <a:t>解释：在当前发送速率与小规模 route 下，动态 route 管理不是主要瓶颈；事务初始化、Checkpoint 协同与提交路径成本更高。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基于 Flink 的动态 Kafka Topic 发现与订阅机制研究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37376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72E"/>
                </a:solidFill>
                <a:latin typeface="PingFang SC"/>
              </a:defRPr>
            </a:pPr>
            <a:r>
              <a:t>对比分析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D6670"/>
                </a:solidFill>
                <a:latin typeface="PingFang SC"/>
              </a:defRPr>
            </a:pPr>
            <a:r>
              <a:t>动态方案以较小本地吞吐代价换取无重启适配能力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143000" cy="41148"/>
          </a:xfrm>
          <a:prstGeom prst="rect">
            <a:avLst/>
          </a:prstGeom>
          <a:solidFill>
            <a:srgbClr val="B4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ffline_updat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98448"/>
            <a:ext cx="4709160" cy="29992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98448"/>
            <a:ext cx="50749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06440" y="1298448"/>
            <a:ext cx="73152" cy="1234440"/>
          </a:xfrm>
          <a:prstGeom prst="rect">
            <a:avLst/>
          </a:prstGeom>
          <a:solidFill>
            <a:srgbClr val="CE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7607" y="1444751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CE7023"/>
                </a:solidFill>
                <a:latin typeface="PingFang SC"/>
              </a:defRPr>
            </a:pPr>
            <a:r>
              <a:t>静态 KafkaSink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7607" y="1828800"/>
            <a:ext cx="47548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优点：简单成熟、单目标开销低。</a:t>
            </a:r>
            <a:br/>
            <a:r>
              <a:t>不足：目标变化时通常要停机、改配置、重提作业。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2761488"/>
            <a:ext cx="50749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06440" y="2761488"/>
            <a:ext cx="73152" cy="1234440"/>
          </a:xfrm>
          <a:prstGeom prst="rect">
            <a:avLst/>
          </a:prstGeom>
          <a:solidFill>
            <a:srgbClr val="144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7607" y="29077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44879"/>
                </a:solidFill>
                <a:latin typeface="PingFang SC"/>
              </a:defRPr>
            </a:pPr>
            <a:r>
              <a:t>本文 Dynamic Sink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7607" y="3291840"/>
            <a:ext cx="47548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优点：运行期发现 Topic，route 与物理 Topic 解耦，状态与提交按 route 纳入 Flink 机制。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4224528"/>
            <a:ext cx="50749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06440" y="4224528"/>
            <a:ext cx="73152" cy="1005840"/>
          </a:xfrm>
          <a:prstGeom prst="rect">
            <a:avLst/>
          </a:prstGeom>
          <a:solidFill>
            <a:srgbClr val="B4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07607" y="43708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B42025"/>
                </a:solidFill>
                <a:latin typeface="PingFang SC"/>
              </a:defRPr>
            </a:pPr>
            <a:r>
              <a:t>与 Source 正则订阅不同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607" y="47548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Sink 侧要额外处理 producer 生命周期、topic 绑定、writer 状态、事务与 committer。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基于 Flink 的动态 Kafka Topic 发现与订阅机制研究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37376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72E"/>
                </a:solidFill>
                <a:latin typeface="PingFang SC"/>
              </a:defRPr>
            </a:pPr>
            <a:r>
              <a:t>总结与创新点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D6670"/>
                </a:solidFill>
                <a:latin typeface="PingFang SC"/>
              </a:defRPr>
            </a:pPr>
            <a:r>
              <a:t>原型已形成需求、设计、实现、实验之间的闭环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143000" cy="41148"/>
          </a:xfrm>
          <a:prstGeom prst="rect">
            <a:avLst/>
          </a:prstGeom>
          <a:solidFill>
            <a:srgbClr val="B4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73152" cy="1234440"/>
          </a:xfrm>
          <a:prstGeom prst="rect">
            <a:avLst/>
          </a:prstGeom>
          <a:solidFill>
            <a:srgbClr val="B4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4721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B42025"/>
                </a:solidFill>
                <a:latin typeface="PingFang SC"/>
              </a:defRPr>
            </a:pPr>
            <a:r>
              <a:t>1. Sink 侧动态发现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856231"/>
            <a:ext cx="31089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基于 Kafka 元数据轮询与正则匹配，在不重启 Flink 作业的前提下接纳新增 Topic。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1234440"/>
          </a:xfrm>
          <a:prstGeom prst="rect">
            <a:avLst/>
          </a:prstGeom>
          <a:solidFill>
            <a:srgbClr val="144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4721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44879"/>
                </a:solidFill>
                <a:latin typeface="PingFang SC"/>
              </a:defRPr>
            </a:pPr>
            <a:r>
              <a:t>2. 逻辑路由解耦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56231"/>
            <a:ext cx="31089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通过 DynamicSinkEvent 与 KafkaRouteDestination，把业务 route id 与物理 Topic 分离。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2588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325880"/>
            <a:ext cx="73152" cy="1234440"/>
          </a:xfrm>
          <a:prstGeom prst="rect">
            <a:avLst/>
          </a:prstGeom>
          <a:solidFill>
            <a:srgbClr val="1F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4721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F8B56"/>
                </a:solidFill>
                <a:latin typeface="PingFang SC"/>
              </a:defRPr>
            </a:pPr>
            <a:r>
              <a:t>3. route 级状态提交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1856231"/>
            <a:ext cx="31089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以 route 为粒度包装 writer state 与 committable，让动态目标进入 Checkpoint/Committer。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54680"/>
            <a:ext cx="10149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"/>
              </a:spcAft>
              <a:defRPr sz="1600">
                <a:solidFill>
                  <a:srgbClr val="22272E"/>
                </a:solidFill>
                <a:latin typeface="PingFang SC"/>
              </a:defRPr>
            </a:pPr>
            <a:r>
              <a:t>功能验证：新增 Topic 可发现并写入，显式 route 能正确分发到目标 Topic</a:t>
            </a:r>
          </a:p>
          <a:p>
            <a:pPr>
              <a:spcAft>
                <a:spcPts val="120"/>
              </a:spcAft>
              <a:defRPr sz="1600">
                <a:solidFill>
                  <a:srgbClr val="22272E"/>
                </a:solidFill>
                <a:latin typeface="PingFang SC"/>
              </a:defRPr>
            </a:pPr>
            <a:r>
              <a:t>性能验证：发现最大 2.418 s；动态 2-route 吞吐下降约 0.59%；稳态 Checkpoint 约 18.2 ms</a:t>
            </a:r>
          </a:p>
          <a:p>
            <a:pPr>
              <a:spcAft>
                <a:spcPts val="120"/>
              </a:spcAft>
              <a:defRPr sz="1600">
                <a:solidFill>
                  <a:srgbClr val="22272E"/>
                </a:solidFill>
                <a:latin typeface="PingFang SC"/>
              </a:defRPr>
            </a:pPr>
            <a:r>
              <a:t>一致性验证：EXACTLY_ONCE 本地小规模路径完成 5 次 Checkpoint 且双 Topic committed 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基于 Flink 的动态 Kafka Topic 发现与订阅机制研究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37376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72E"/>
                </a:solidFill>
                <a:latin typeface="PingFang SC"/>
              </a:defRPr>
            </a:pPr>
            <a:r>
              <a:t>不足与展望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D6670"/>
                </a:solidFill>
                <a:latin typeface="PingFang SC"/>
              </a:defRPr>
            </a:pPr>
            <a:r>
              <a:t>当前成果是可运行原型，后续需要面向生产化继续打磨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143000" cy="41148"/>
          </a:xfrm>
          <a:prstGeom prst="rect">
            <a:avLst/>
          </a:prstGeom>
          <a:solidFill>
            <a:srgbClr val="B4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1206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73152" cy="1051560"/>
          </a:xfrm>
          <a:prstGeom prst="rect">
            <a:avLst/>
          </a:prstGeom>
          <a:solidFill>
            <a:srgbClr val="144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47218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44879"/>
                </a:solidFill>
                <a:latin typeface="PingFang SC"/>
              </a:defRPr>
            </a:pPr>
            <a:r>
              <a:t>元数据访问优化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856231"/>
            <a:ext cx="480060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当前依赖周期性 AdminClient.listTopics()，后续可探索缓存、增量发现和多集群元数据服务。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51760"/>
            <a:ext cx="51206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651760"/>
            <a:ext cx="73152" cy="1051560"/>
          </a:xfrm>
          <a:prstGeom prst="rect">
            <a:avLst/>
          </a:prstGeom>
          <a:solidFill>
            <a:srgbClr val="B42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7980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B42025"/>
                </a:solidFill>
                <a:latin typeface="PingFang SC"/>
              </a:defRPr>
            </a:pPr>
            <a:r>
              <a:t>资源与生命周期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182112"/>
            <a:ext cx="480060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route 数增长会带来 writer/producer 资源压力；EXACTLY_ONCE 下退役 writer 安全回收仍需完善。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25880"/>
            <a:ext cx="51206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325880"/>
            <a:ext cx="73152" cy="1051560"/>
          </a:xfrm>
          <a:prstGeom prst="rect">
            <a:avLst/>
          </a:prstGeom>
          <a:solidFill>
            <a:srgbClr val="CE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147218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CE7023"/>
                </a:solidFill>
                <a:latin typeface="PingFang SC"/>
              </a:defRPr>
            </a:pPr>
            <a:r>
              <a:t>更严格一致性验证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1856231"/>
            <a:ext cx="480060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需要加入故障注入、任务恢复、事务超时、read_committed 消费校验等端到端测试。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651760"/>
            <a:ext cx="51206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651760"/>
            <a:ext cx="73152" cy="1051560"/>
          </a:xfrm>
          <a:prstGeom prst="rect">
            <a:avLst/>
          </a:prstGeom>
          <a:solidFill>
            <a:srgbClr val="1F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27980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F8B56"/>
                </a:solidFill>
                <a:latin typeface="PingFang SC"/>
              </a:defRPr>
            </a:pPr>
            <a:r>
              <a:t>更完整性能评估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3182112"/>
            <a:ext cx="480060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2272E"/>
                </a:solidFill>
                <a:latin typeface="PingFang SC"/>
              </a:defRPr>
            </a:pPr>
            <a:r>
              <a:t>扩展到更高并行度、更长运行时间、更多 route 和真实数据流，区分 Kafka 瓶颈与动态管理开销。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047488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272E"/>
                </a:solidFill>
                <a:latin typeface="PingFang SC"/>
              </a:defRPr>
            </a:pPr>
            <a:r>
              <a:t>谢谢各位老师，欢迎批评指正。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基于 Flink 的动态 Kafka Topic 发现与订阅机制研究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37376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D6670"/>
                </a:solidFill>
                <a:latin typeface="PingFang SC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