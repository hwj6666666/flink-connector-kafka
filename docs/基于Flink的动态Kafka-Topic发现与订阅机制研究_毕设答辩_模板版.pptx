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notesMasterIdLst>
    <p:notesMasterId r:id="rId29"/>
  </p:notesMasterIdLst>
  <p:handoutMasterIdLst>
    <p:handoutMasterId r:id="rId30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B1D8"/>
    <a:srgbClr val="3F6E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4" autoAdjust="0"/>
    <p:restoredTop sz="94660"/>
  </p:normalViewPr>
  <p:slideViewPr>
    <p:cSldViewPr snapToGrid="0">
      <p:cViewPr varScale="1">
        <p:scale>
          <a:sx n="79" d="100"/>
          <a:sy n="79" d="100"/>
        </p:scale>
        <p:origin x="7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496" y="5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2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C1FBA-CF23-45CA-A289-03E32D160964}" type="datetimeFigureOut">
              <a:rPr lang="zh-CN" altLang="en-US" smtClean="0"/>
              <a:t>2016/4/27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2B0C5-C56D-47E9-BCFE-D990A940F1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700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966BD8-0FC1-456F-BDC6-7D0CA8E36566}" type="datetimeFigureOut">
              <a:rPr lang="zh-CN" altLang="en-US" smtClean="0"/>
              <a:t>2016/4/27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FC841-E2E1-4802-8701-94EA307E9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59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microsoft.com/office/2007/relationships/hdphoto" Target="../media/hdphoto2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microsoft.com/office/2007/relationships/hdphoto" Target="../media/hdphoto2.wd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60" y="5815086"/>
            <a:ext cx="2458720" cy="650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4149566"/>
            <a:ext cx="7886700" cy="89951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628650" y="5114029"/>
            <a:ext cx="7886700" cy="604299"/>
          </a:xfrm>
        </p:spPr>
        <p:txBody>
          <a:bodyPr anchor="ctr">
            <a:noAutofit/>
          </a:bodyPr>
          <a:lstStyle>
            <a:lvl1pPr algn="ctr">
              <a:defRPr lang="zh-CN" altLang="en-US" sz="2400" b="0">
                <a:solidFill>
                  <a:schemeClr val="bg1"/>
                </a:solidFill>
                <a:latin typeface="+mn-ea"/>
                <a:cs typeface="+mj-cs"/>
              </a:defRPr>
            </a:lvl1pPr>
          </a:lstStyle>
          <a:p>
            <a:pPr lvl="0"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/>
        </p:blipFill>
        <p:spPr>
          <a:xfrm>
            <a:off x="0" y="0"/>
            <a:ext cx="9144000" cy="3899805"/>
          </a:xfrm>
          <a:prstGeom prst="rect">
            <a:avLst/>
          </a:prstGeom>
          <a:ln>
            <a:noFill/>
          </a:ln>
        </p:spPr>
      </p:pic>
      <p:cxnSp>
        <p:nvCxnSpPr>
          <p:cNvPr id="9" name="直接连接符 8"/>
          <p:cNvCxnSpPr/>
          <p:nvPr/>
        </p:nvCxnSpPr>
        <p:spPr>
          <a:xfrm>
            <a:off x="0" y="3899805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489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2880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4" y="974277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05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5" y="975600"/>
            <a:ext cx="8372163" cy="576000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" name="灯片编号占位符 5"/>
          <p:cNvSpPr txBox="1">
            <a:spLocks/>
          </p:cNvSpPr>
          <p:nvPr/>
        </p:nvSpPr>
        <p:spPr>
          <a:xfrm>
            <a:off x="8697600" y="311755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9745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页-极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4" y="974277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0" y="1"/>
            <a:ext cx="9144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04390"/>
            <a:ext cx="459922" cy="460086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"/>
            <a:ext cx="9144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04390"/>
            <a:ext cx="459922" cy="46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28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页-极简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4" y="974277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0" y="1"/>
            <a:ext cx="9144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7600" y="313200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4CE0C3C-47D3-4455-AB34-8268314DB49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04390"/>
            <a:ext cx="459922" cy="460086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1"/>
            <a:ext cx="9144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04390"/>
            <a:ext cx="459922" cy="46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17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hf hdr="0" ftr="0" dt="0"/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9144000" cy="1036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293" y="6100771"/>
            <a:ext cx="1958547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35137"/>
            <a:ext cx="6474515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1240"/>
            <a:ext cx="9144000" cy="518506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1240"/>
            <a:ext cx="9144000" cy="518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4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5556">
          <p15:clr>
            <a:srgbClr val="FBAE40"/>
          </p15:clr>
        </p15:guide>
        <p15:guide id="2" pos="204">
          <p15:clr>
            <a:srgbClr val="FBAE40"/>
          </p15:clr>
        </p15:guide>
        <p15:guide id="5" pos="3125">
          <p15:clr>
            <a:srgbClr val="FBAE40"/>
          </p15:clr>
        </p15:guide>
        <p15:guide id="6" pos="115">
          <p15:clr>
            <a:srgbClr val="FBAE40"/>
          </p15:clr>
        </p15:guide>
        <p15:guide id="7" pos="4167" userDrawn="1">
          <p15:clr>
            <a:srgbClr val="FBAE40"/>
          </p15:clr>
        </p15:guide>
        <p15:guide id="8" pos="15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5" y="975600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58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标题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5" y="975600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灯片编号占位符 5"/>
          <p:cNvSpPr txBox="1">
            <a:spLocks/>
          </p:cNvSpPr>
          <p:nvPr/>
        </p:nvSpPr>
        <p:spPr>
          <a:xfrm>
            <a:off x="8696565" y="311755"/>
            <a:ext cx="4474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7E0B4DC1-AB35-4259-8072-EA8F5B8A0BBF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261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330335"/>
      </p:ext>
    </p:extLst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97600" y="313200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1703B59-C883-4B8B-974E-AFB30A6C43A7}" type="slidenum">
              <a:rPr lang="en-US" altLang="zh-CN" smtClean="0"/>
              <a:pPr/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350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3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393" y="975600"/>
            <a:ext cx="8556169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321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3" pos="1620">
          <p15:clr>
            <a:srgbClr val="FBAE40"/>
          </p15:clr>
        </p15:guide>
        <p15:guide id="4" pos="21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682"/>
            <a:ext cx="9144000" cy="33271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250026" y="313200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3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6565" y="313200"/>
            <a:ext cx="487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4BD5A17-3153-4A95-988E-B577C14000F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393" y="975600"/>
            <a:ext cx="8566445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31682"/>
            <a:ext cx="9144000" cy="33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02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5193">
          <p15:clr>
            <a:srgbClr val="FBAE40"/>
          </p15:clr>
        </p15:guide>
        <p15:guide id="5" pos="1620">
          <p15:clr>
            <a:srgbClr val="FBAE40"/>
          </p15:clr>
        </p15:guide>
        <p15:guide id="6" pos="2921">
          <p15:clr>
            <a:srgbClr val="FBAE40"/>
          </p15:clr>
        </p15:guide>
        <p15:guide id="7" pos="2160" userDrawn="1">
          <p15:clr>
            <a:srgbClr val="FBAE40"/>
          </p15:clr>
        </p15:guide>
        <p15:guide id="8" pos="389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62394" y="960114"/>
            <a:ext cx="4032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单击此处编辑标题</a:t>
            </a:r>
            <a:endParaRPr lang="zh-CN" altLang="en-US" dirty="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3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786313" y="958297"/>
            <a:ext cx="4032000" cy="576000"/>
          </a:xfr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 smtClean="0"/>
              <a:t>单击此处编辑标题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47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3" pos="1620">
          <p15:clr>
            <a:srgbClr val="FBAE40"/>
          </p15:clr>
        </p15:guide>
        <p15:guide id="4" pos="216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250026" y="313200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62394" y="960114"/>
            <a:ext cx="4032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 smtClean="0"/>
              <a:t>单击此处编辑标题</a:t>
            </a:r>
            <a:endParaRPr lang="zh-CN" altLang="en-US" dirty="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3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786313" y="958297"/>
            <a:ext cx="4032000" cy="576000"/>
          </a:xfr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 smtClean="0"/>
              <a:t>单击此处编辑标题</a:t>
            </a:r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6565" y="313200"/>
            <a:ext cx="487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4BD5A17-3153-4A95-988E-B577C14000F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306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5193">
          <p15:clr>
            <a:srgbClr val="FBAE40"/>
          </p15:clr>
        </p15:guide>
        <p15:guide id="5" pos="1620">
          <p15:clr>
            <a:srgbClr val="FBAE40"/>
          </p15:clr>
        </p15:guide>
        <p15:guide id="6" pos="2921">
          <p15:clr>
            <a:srgbClr val="FBAE40"/>
          </p15:clr>
        </p15:guide>
        <p15:guide id="7" pos="2160" userDrawn="1">
          <p15:clr>
            <a:srgbClr val="FBAE40"/>
          </p15:clr>
        </p15:guide>
        <p15:guide id="8" pos="389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封面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60" y="5815086"/>
            <a:ext cx="2458720" cy="650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9123" y="4006448"/>
            <a:ext cx="8325019" cy="111419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469124" y="5245246"/>
            <a:ext cx="5820358" cy="468179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zh-CN" altLang="en-US" sz="2400" b="0">
                <a:solidFill>
                  <a:schemeClr val="bg1"/>
                </a:solidFill>
                <a:latin typeface="+mn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69124" y="5815087"/>
            <a:ext cx="4159250" cy="49900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 smtClean="0"/>
              <a:t>单击此处添加日期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/>
        </p:blipFill>
        <p:spPr>
          <a:xfrm>
            <a:off x="0" y="0"/>
            <a:ext cx="9144000" cy="3899805"/>
          </a:xfrm>
          <a:prstGeom prst="rect">
            <a:avLst/>
          </a:prstGeom>
          <a:ln>
            <a:noFill/>
          </a:ln>
        </p:spPr>
      </p:pic>
      <p:cxnSp>
        <p:nvCxnSpPr>
          <p:cNvPr id="11" name="直接连接符 10"/>
          <p:cNvCxnSpPr/>
          <p:nvPr/>
        </p:nvCxnSpPr>
        <p:spPr>
          <a:xfrm>
            <a:off x="0" y="3899805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/>
        </p:blipFill>
        <p:spPr>
          <a:xfrm>
            <a:off x="0" y="0"/>
            <a:ext cx="9144000" cy="3899805"/>
          </a:xfrm>
          <a:prstGeom prst="rect">
            <a:avLst/>
          </a:prstGeom>
          <a:ln>
            <a:noFill/>
          </a:ln>
        </p:spPr>
      </p:pic>
      <p:cxnSp>
        <p:nvCxnSpPr>
          <p:cNvPr id="9" name="直接连接符 8"/>
          <p:cNvCxnSpPr/>
          <p:nvPr userDrawn="1"/>
        </p:nvCxnSpPr>
        <p:spPr>
          <a:xfrm>
            <a:off x="0" y="3899805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06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295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16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3073"/>
            <a:ext cx="9144000" cy="28117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74" y="3608990"/>
            <a:ext cx="3021843" cy="799946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7896" y="1371600"/>
            <a:ext cx="8410492" cy="926932"/>
          </a:xfrm>
        </p:spPr>
        <p:txBody>
          <a:bodyPr>
            <a:noAutofit/>
          </a:bodyPr>
          <a:lstStyle>
            <a:lvl1pPr algn="ctr">
              <a:defRPr sz="6600" b="1">
                <a:solidFill>
                  <a:schemeClr val="bg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3073"/>
            <a:ext cx="9144000" cy="281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72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8" Type="http://schemas.openxmlformats.org/officeDocument/2006/relationships/image" Target="../media/image1.png"/><Relationship Id="rId19" Type="http://schemas.openxmlformats.org/officeDocument/2006/relationships/image" Target="../media/image2.png"/><Relationship Id="rId20" Type="http://schemas.microsoft.com/office/2007/relationships/hdphoto" Target="../media/hdphoto1.wdp"/><Relationship Id="rId21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413468" y="1673352"/>
            <a:ext cx="8340421" cy="4999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1231682"/>
            <a:ext cx="9144000" cy="332713"/>
          </a:xfrm>
          <a:prstGeom prst="rect">
            <a:avLst/>
          </a:prstGeom>
        </p:spPr>
      </p:pic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413468" y="863020"/>
            <a:ext cx="8410492" cy="701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0" y="1231682"/>
            <a:ext cx="9144000" cy="33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737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</p:sldLayoutIdLst>
  <p:transition spd="med">
    <p:push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800" b="1">
                <a:solidFill>
                  <a:srgbClr val="1F4976"/>
                </a:solidFill>
                <a:latin typeface="Microsoft YaHei"/>
              </a:defRPr>
            </a:pPr>
            <a:r>
              <a:rPr sz="2800" b="1">
                <a:solidFill>
                  <a:srgbClr val="1F4976"/>
                </a:solidFill>
                <a:latin typeface="Microsoft YaHei"/>
              </a:rPr>
              <a:t>基于 Flink 的动态 Kafka-Topic</a:t>
            </a:r>
          </a:p>
          <a:p>
            <a:pPr>
              <a:defRPr sz="2800" b="1">
                <a:solidFill>
                  <a:srgbClr val="1F4976"/>
                </a:solidFill>
                <a:latin typeface="Microsoft YaHei"/>
              </a:defRPr>
            </a:pPr>
            <a:r>
              <a:rPr sz="2800" b="1">
                <a:solidFill>
                  <a:srgbClr val="1F4976"/>
                </a:solidFill>
                <a:latin typeface="Microsoft YaHei"/>
              </a:rPr>
              <a:t>发现与订阅机制研究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pPr>
              <a:defRPr sz="1600" b="0">
                <a:solidFill>
                  <a:srgbClr val="8F1F24"/>
                </a:solidFill>
                <a:latin typeface="Microsoft YaHei"/>
              </a:defRPr>
            </a:pPr>
            <a:r>
              <a:rPr sz="1600" b="0">
                <a:solidFill>
                  <a:srgbClr val="8F1F24"/>
                </a:solidFill>
                <a:latin typeface="Microsoft YaHei"/>
              </a:rPr>
              <a:t>本科毕业设计答辩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 wrap="square">
            <a:normAutofit/>
          </a:bodyPr>
          <a:lstStyle/>
          <a:p>
            <a:pPr>
              <a:defRPr sz="1200" b="0">
                <a:solidFill>
                  <a:srgbClr val="62676F"/>
                </a:solidFill>
                <a:latin typeface="Microsoft YaHei"/>
              </a:defRPr>
            </a:pPr>
            <a:r>
              <a:rPr sz="1200" b="0">
                <a:solidFill>
                  <a:srgbClr val="62676F"/>
                </a:solidFill>
                <a:latin typeface="Microsoft YaHei"/>
              </a:rPr>
              <a:t>答辩人：胡文杰</a:t>
            </a:r>
          </a:p>
          <a:p>
            <a:pPr>
              <a:defRPr sz="1200" b="0">
                <a:solidFill>
                  <a:srgbClr val="62676F"/>
                </a:solidFill>
                <a:latin typeface="Microsoft YaHei"/>
              </a:defRPr>
            </a:pPr>
            <a:r>
              <a:rPr sz="1200" b="0">
                <a:solidFill>
                  <a:srgbClr val="62676F"/>
                </a:solidFill>
                <a:latin typeface="Microsoft YaHei"/>
              </a:rPr>
              <a:t>指导教师：任锐</a:t>
            </a:r>
          </a:p>
          <a:p>
            <a:pPr>
              <a:defRPr sz="1200" b="0">
                <a:solidFill>
                  <a:srgbClr val="62676F"/>
                </a:solidFill>
                <a:latin typeface="Microsoft YaHei"/>
              </a:defRPr>
            </a:pPr>
            <a:r>
              <a:rPr sz="1200" b="0">
                <a:solidFill>
                  <a:srgbClr val="62676F"/>
                </a:solidFill>
                <a:latin typeface="Microsoft YaHei"/>
              </a:rPr>
              <a:t>上海交通大学    2026 年 5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600" b="1">
                <a:solidFill>
                  <a:srgbClr val="1F4976"/>
                </a:solidFill>
                <a:latin typeface="Microsoft YaHei"/>
              </a:defRPr>
            </a:pPr>
            <a:r>
              <a:rPr sz="2600" b="1">
                <a:solidFill>
                  <a:srgbClr val="1F4976"/>
                </a:solidFill>
                <a:latin typeface="Microsoft YaHei"/>
              </a:rPr>
              <a:t>汇报提纲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234440"/>
            <a:ext cx="384048" cy="210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8F1F24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89888" y="1216152"/>
            <a:ext cx="25146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F4976"/>
                </a:solidFill>
                <a:latin typeface="Microsoft YaHei"/>
              </a:defRPr>
            </a:pPr>
            <a:r>
              <a:t>研究背景与问题定义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1234440"/>
            <a:ext cx="42062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70" b="0">
                <a:solidFill>
                  <a:srgbClr val="62676F"/>
                </a:solidFill>
                <a:latin typeface="Microsoft YaHei"/>
              </a:defRPr>
            </a:pPr>
            <a:r>
              <a:t>静态 KafkaSink 与动态 Topic 场景的矛盾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84248"/>
            <a:ext cx="384048" cy="210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8F1F24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965960"/>
            <a:ext cx="25146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F4976"/>
                </a:solidFill>
                <a:latin typeface="Microsoft YaHei"/>
              </a:defRPr>
            </a:pPr>
            <a:r>
              <a:t>需求分析与系统设计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984248"/>
            <a:ext cx="42062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70" b="0">
                <a:solidFill>
                  <a:srgbClr val="62676F"/>
                </a:solidFill>
                <a:latin typeface="Microsoft YaHei"/>
              </a:defRPr>
            </a:pPr>
            <a:r>
              <a:t>动态发现、逻辑路由、writer 生命周期、状态提交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34056"/>
            <a:ext cx="384048" cy="210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8F1F24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715768"/>
            <a:ext cx="25146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F4976"/>
                </a:solidFill>
                <a:latin typeface="Microsoft YaHei"/>
              </a:defRPr>
            </a:pPr>
            <a:r>
              <a:t>代码实现与关键机制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734056"/>
            <a:ext cx="42062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70" b="0">
                <a:solidFill>
                  <a:srgbClr val="62676F"/>
                </a:solidFill>
                <a:latin typeface="Microsoft YaHei"/>
              </a:defRPr>
            </a:pPr>
            <a:r>
              <a:t>结合 connector/app 模块说明核心类与方法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83864"/>
            <a:ext cx="384048" cy="210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8F1F24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3465576"/>
            <a:ext cx="25146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F4976"/>
                </a:solidFill>
                <a:latin typeface="Microsoft YaHei"/>
              </a:defRPr>
            </a:pPr>
            <a:r>
              <a:t>实验设计与结果分析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483864"/>
            <a:ext cx="42062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70" b="0">
                <a:solidFill>
                  <a:srgbClr val="62676F"/>
                </a:solidFill>
                <a:latin typeface="Microsoft YaHei"/>
              </a:defRPr>
            </a:pPr>
            <a:r>
              <a:t>发现实时性、吞吐、扩展性、Checkpoint、Exactly-once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33672"/>
            <a:ext cx="384048" cy="210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8F1F24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4215384"/>
            <a:ext cx="251460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50" b="1">
                <a:solidFill>
                  <a:srgbClr val="1F4976"/>
                </a:solidFill>
                <a:latin typeface="Microsoft YaHei"/>
              </a:defRPr>
            </a:pPr>
            <a:r>
              <a:t>总结、局限与展望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4233672"/>
            <a:ext cx="420624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70" b="0">
                <a:solidFill>
                  <a:srgbClr val="62676F"/>
                </a:solidFill>
                <a:latin typeface="Microsoft YaHei"/>
              </a:defRPr>
            </a:pPr>
            <a:r>
              <a:t>原型贡献、适用边界和后续工作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0175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2676F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300" b="1">
                <a:solidFill>
                  <a:srgbClr val="1F4976"/>
                </a:solidFill>
                <a:latin typeface="Microsoft YaHei"/>
              </a:defRPr>
            </a:pPr>
            <a:r>
              <a:rPr sz="2300" b="1">
                <a:solidFill>
                  <a:srgbClr val="1F4976"/>
                </a:solidFill>
                <a:latin typeface="Microsoft YaHei"/>
              </a:rPr>
              <a:t>研究背景：实时链路中的 Sink 目标会变化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79552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60" b="0">
                <a:solidFill>
                  <a:srgbClr val="62676F"/>
                </a:solidFill>
                <a:latin typeface="Microsoft YaHei"/>
              </a:defRPr>
            </a:pPr>
            <a:r>
              <a:t>Flink + Kafka 是实时数据链路常见组合，但生产端目标通常在作业启动时固化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836676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afka_flink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74519"/>
            <a:ext cx="3520440" cy="25146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4526280" y="1920240"/>
            <a:ext cx="256032" cy="256032"/>
          </a:xfrm>
          <a:prstGeom prst="ellipse">
            <a:avLst/>
          </a:prstGeom>
          <a:solidFill>
            <a:srgbClr val="8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52244"/>
            <a:ext cx="256032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0328" y="1901952"/>
            <a:ext cx="19659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业务变化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01952"/>
            <a:ext cx="1920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23262C"/>
                </a:solidFill>
                <a:latin typeface="Microsoft YaHei"/>
              </a:defRPr>
            </a:pPr>
            <a:r>
              <a:t>多租户扩容、按日期/地域拆分、灰度迁移和容灾切换会持续产生新 Topic。</a:t>
            </a:r>
          </a:p>
        </p:txBody>
      </p:sp>
      <p:sp>
        <p:nvSpPr>
          <p:cNvPr id="11" name="Oval 10"/>
          <p:cNvSpPr/>
          <p:nvPr/>
        </p:nvSpPr>
        <p:spPr>
          <a:xfrm>
            <a:off x="4526280" y="2542032"/>
            <a:ext cx="256032" cy="256032"/>
          </a:xfrm>
          <a:prstGeom prst="ellipse">
            <a:avLst/>
          </a:prstGeom>
          <a:solidFill>
            <a:srgbClr val="1F4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574036"/>
            <a:ext cx="256032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2523744"/>
            <a:ext cx="19659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静态绑定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23744"/>
            <a:ext cx="1920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23262C"/>
                </a:solidFill>
                <a:latin typeface="Microsoft YaHei"/>
              </a:defRPr>
            </a:pPr>
            <a:r>
              <a:t>传统 KafkaSink 在构建阶段指定目标 Topic，运行期不会自动感知 Kafka 元数据变化。</a:t>
            </a:r>
          </a:p>
        </p:txBody>
      </p:sp>
      <p:sp>
        <p:nvSpPr>
          <p:cNvPr id="15" name="Oval 14"/>
          <p:cNvSpPr/>
          <p:nvPr/>
        </p:nvSpPr>
        <p:spPr>
          <a:xfrm>
            <a:off x="4526280" y="3163824"/>
            <a:ext cx="256032" cy="256032"/>
          </a:xfrm>
          <a:prstGeom prst="ellipse">
            <a:avLst/>
          </a:prstGeom>
          <a:solidFill>
            <a:srgbClr val="8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195828"/>
            <a:ext cx="256032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3145536"/>
            <a:ext cx="19659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运维代价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45536"/>
            <a:ext cx="1920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23262C"/>
                </a:solidFill>
                <a:latin typeface="Microsoft YaHei"/>
              </a:defRPr>
            </a:pPr>
            <a:r>
              <a:t>新增目标往往需要停机、改配置、重新提交作业，削弱实时链路连续性。</a:t>
            </a:r>
          </a:p>
        </p:txBody>
      </p:sp>
      <p:sp>
        <p:nvSpPr>
          <p:cNvPr id="19" name="Oval 18"/>
          <p:cNvSpPr/>
          <p:nvPr/>
        </p:nvSpPr>
        <p:spPr>
          <a:xfrm>
            <a:off x="4526280" y="3785615"/>
            <a:ext cx="256032" cy="256032"/>
          </a:xfrm>
          <a:prstGeom prst="ellipse">
            <a:avLst/>
          </a:prstGeom>
          <a:solidFill>
            <a:srgbClr val="1F4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817620"/>
            <a:ext cx="256032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3767328"/>
            <a:ext cx="19659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研究问题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767328"/>
            <a:ext cx="192024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23262C"/>
                </a:solidFill>
                <a:latin typeface="Microsoft YaHei"/>
              </a:defRPr>
            </a:pPr>
            <a:r>
              <a:t>当可写 Topic 集合变化时，Sink 如何发现变化、更新 writer，并保持状态可恢复？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0175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2676F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300" b="1">
                <a:solidFill>
                  <a:srgbClr val="1F4976"/>
                </a:solidFill>
                <a:latin typeface="Microsoft YaHei"/>
              </a:defRPr>
            </a:pPr>
            <a:r>
              <a:rPr sz="2300" b="1">
                <a:solidFill>
                  <a:srgbClr val="1F4976"/>
                </a:solidFill>
                <a:latin typeface="Microsoft YaHei"/>
              </a:rPr>
              <a:t>现有方案能力边界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79552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60" b="0">
                <a:solidFill>
                  <a:srgbClr val="62676F"/>
                </a:solidFill>
                <a:latin typeface="Microsoft YaHei"/>
              </a:defRPr>
            </a:pPr>
            <a:r>
              <a:t>本文不是重复 KafkaSink，而是在 Sink 侧补齐动态目标管理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836676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874519"/>
          <a:ext cx="790956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6520"/>
                <a:gridCol w="2636520"/>
                <a:gridCol w="2636520"/>
              </a:tblGrid>
              <a:tr h="667512"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方案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已有能力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不足 / 与本文差异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静态 KafkaSink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固定 Topic 写入、投递语义、事务提交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目标在构建阶段绑定；缺少运行期正则发现和逻辑 route 表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Source 正则订阅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Source 侧可按正则发现 Topic/Partition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面向消费端 offset 和分区管理；不能直接解决 producer/writer/commit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Kafka Connect / CDC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外部系统接入、任务级配置管理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关注数据进入 Kafka/Flink，不负责 Flink Sink 内部动态多目标写出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本文原型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Topic 发现 + route 映射 + route 级 writer/state/committable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目标是本地小规模可运行原型和实验闭环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41080" y="30175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2676F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300" b="1">
                <a:solidFill>
                  <a:srgbClr val="1F4976"/>
                </a:solidFill>
                <a:latin typeface="Microsoft YaHei"/>
              </a:defRPr>
            </a:pPr>
            <a:r>
              <a:rPr sz="2300" b="1">
                <a:solidFill>
                  <a:srgbClr val="1F4976"/>
                </a:solidFill>
                <a:latin typeface="Microsoft YaHei"/>
              </a:rPr>
              <a:t>需求分析：功能需求与量化指标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79552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60" b="0">
                <a:solidFill>
                  <a:srgbClr val="62676F"/>
                </a:solidFill>
                <a:latin typeface="Microsoft YaHei"/>
              </a:defRPr>
            </a:pPr>
            <a:r>
              <a:t>论文第 3 章将问题拆成四类功能需求和五个可测指标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836676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74519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19" b="1">
                <a:solidFill>
                  <a:srgbClr val="1F4976"/>
                </a:solidFill>
                <a:latin typeface="Microsoft YaHei"/>
              </a:defRPr>
            </a:pPr>
            <a:r>
              <a:t>功能需求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2130552"/>
            <a:ext cx="530352" cy="32004"/>
          </a:xfrm>
          <a:prstGeom prst="rect">
            <a:avLst/>
          </a:prstGeom>
          <a:solidFill>
            <a:srgbClr val="1F4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67712"/>
            <a:ext cx="365760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070">
                <a:solidFill>
                  <a:srgbClr val="23262C"/>
                </a:solidFill>
                <a:latin typeface="Microsoft YaHei"/>
              </a:defRPr>
            </a:pPr>
            <a:r>
              <a:t>动态 Topic 发现：周期性查询 Kafka 元数据，按 stream_pattern 识别 Topic</a:t>
            </a:r>
          </a:p>
          <a:p>
            <a:pPr>
              <a:spcAft>
                <a:spcPts val="300"/>
              </a:spcAft>
              <a:defRPr sz="1070">
                <a:solidFill>
                  <a:srgbClr val="23262C"/>
                </a:solidFill>
                <a:latin typeface="Microsoft YaHei"/>
              </a:defRPr>
            </a:pPr>
            <a:r>
              <a:t>自动订阅/扩写：发现后维护 activeRouteIds，并创建可写 ClusterWriter</a:t>
            </a:r>
          </a:p>
          <a:p>
            <a:pPr>
              <a:spcAft>
                <a:spcPts val="300"/>
              </a:spcAft>
              <a:defRPr sz="1070">
                <a:solidFill>
                  <a:srgbClr val="23262C"/>
                </a:solidFill>
                <a:latin typeface="Microsoft YaHei"/>
              </a:defRPr>
            </a:pPr>
            <a:r>
              <a:t>动态路由：业务 routeId 与 Kafka 物理 Topic 解耦，支持运行期 route 更新</a:t>
            </a:r>
          </a:p>
          <a:p>
            <a:pPr>
              <a:spcAft>
                <a:spcPts val="300"/>
              </a:spcAft>
              <a:defRPr sz="1070">
                <a:solidFill>
                  <a:srgbClr val="23262C"/>
                </a:solidFill>
                <a:latin typeface="Microsoft YaHei"/>
              </a:defRPr>
            </a:pPr>
            <a:r>
              <a:t>数据处理与恢复：序列化、写入、Checkpoint 快照、恢复和提交路径保持一致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874519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19" b="1">
                <a:solidFill>
                  <a:srgbClr val="1F4976"/>
                </a:solidFill>
                <a:latin typeface="Microsoft YaHei"/>
              </a:defRPr>
            </a:pPr>
            <a:r>
              <a:t>非功能指标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130552"/>
            <a:ext cx="530352" cy="32004"/>
          </a:xfrm>
          <a:prstGeom prst="rect">
            <a:avLst/>
          </a:prstGeom>
          <a:solidFill>
            <a:srgbClr val="1F4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773168" y="2258568"/>
          <a:ext cx="361188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5940"/>
                <a:gridCol w="1805940"/>
              </a:tblGrid>
              <a:tr h="40386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阈值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发现实时性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新增 Topic 首次写入 ≤ 3 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吞吐可接受性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动态 2-route 较静态下降 ≤ 5%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小规模扩展性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2-route 到 4-route 下降 ≤ 10%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Checkpoint 协同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稳态完成时延 ≤ 100 ms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事务路径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EO ≥ 5 次 Checkpoint 且双 Topic 输出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641080" y="30175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2676F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300" b="1">
                <a:solidFill>
                  <a:srgbClr val="1F4976"/>
                </a:solidFill>
                <a:latin typeface="Microsoft YaHei"/>
              </a:defRPr>
            </a:pPr>
            <a:r>
              <a:rPr sz="2300" b="1">
                <a:solidFill>
                  <a:srgbClr val="1F4976"/>
                </a:solidFill>
                <a:latin typeface="Microsoft YaHei"/>
              </a:rPr>
              <a:t>总体设计：动态外壳 + 静态内核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79552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60" b="0">
                <a:solidFill>
                  <a:srgbClr val="62676F"/>
                </a:solidFill>
                <a:latin typeface="Microsoft YaHei"/>
              </a:defRPr>
            </a:pPr>
            <a:r>
              <a:t>动态层负责变化管理，底层复用成熟 KafkaSink writer 与提交能力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836676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ynamic_sink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47088"/>
            <a:ext cx="4526280" cy="333756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40680" y="1920240"/>
            <a:ext cx="256032" cy="256032"/>
          </a:xfrm>
          <a:prstGeom prst="ellipse">
            <a:avLst/>
          </a:prstGeom>
          <a:solidFill>
            <a:srgbClr val="8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40680" y="1952244"/>
            <a:ext cx="256032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4728" y="1901952"/>
            <a:ext cx="19659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配置构建层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901952"/>
            <a:ext cx="868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23262C"/>
                </a:solidFill>
                <a:latin typeface="Microsoft YaHei"/>
              </a:defRPr>
            </a:pPr>
            <a:r>
              <a:t>DynamicKafkaSinkBuilder 装配 streamPattern、metadata service、serializer 与 delivery guarantee。</a:t>
            </a:r>
          </a:p>
        </p:txBody>
      </p:sp>
      <p:sp>
        <p:nvSpPr>
          <p:cNvPr id="11" name="Oval 10"/>
          <p:cNvSpPr/>
          <p:nvPr/>
        </p:nvSpPr>
        <p:spPr>
          <a:xfrm>
            <a:off x="5440680" y="2578608"/>
            <a:ext cx="256032" cy="256032"/>
          </a:xfrm>
          <a:prstGeom prst="ellipse">
            <a:avLst/>
          </a:prstGeom>
          <a:solidFill>
            <a:srgbClr val="1F4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2610612"/>
            <a:ext cx="256032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728" y="2560320"/>
            <a:ext cx="19659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元数据发现层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560320"/>
            <a:ext cx="868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23262C"/>
                </a:solidFill>
                <a:latin typeface="Microsoft YaHei"/>
              </a:defRPr>
            </a:pPr>
            <a:r>
              <a:t>SingleClusterTopicMetadataService 通过 AdminClient.listTopics() 暴露 Topic 集合。</a:t>
            </a:r>
          </a:p>
        </p:txBody>
      </p:sp>
      <p:sp>
        <p:nvSpPr>
          <p:cNvPr id="15" name="Oval 14"/>
          <p:cNvSpPr/>
          <p:nvPr/>
        </p:nvSpPr>
        <p:spPr>
          <a:xfrm>
            <a:off x="5440680" y="3236976"/>
            <a:ext cx="256032" cy="256032"/>
          </a:xfrm>
          <a:prstGeom prst="ellipse">
            <a:avLst/>
          </a:prstGeom>
          <a:solidFill>
            <a:srgbClr val="8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3268980"/>
            <a:ext cx="256032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4728" y="3218688"/>
            <a:ext cx="19659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运行时路由层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218688"/>
            <a:ext cx="868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23262C"/>
                </a:solidFill>
                <a:latin typeface="Microsoft YaHei"/>
              </a:defRPr>
            </a:pPr>
            <a:r>
              <a:t>DynamicKafkaSinkWriter 维护 activeRouteIds、explicitRoutesById 和 clusterWritersByRouteId。</a:t>
            </a:r>
          </a:p>
        </p:txBody>
      </p:sp>
      <p:sp>
        <p:nvSpPr>
          <p:cNvPr id="19" name="Oval 18"/>
          <p:cNvSpPr/>
          <p:nvPr/>
        </p:nvSpPr>
        <p:spPr>
          <a:xfrm>
            <a:off x="5440680" y="3895344"/>
            <a:ext cx="256032" cy="256032"/>
          </a:xfrm>
          <a:prstGeom prst="ellipse">
            <a:avLst/>
          </a:prstGeom>
          <a:solidFill>
            <a:srgbClr val="1F4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3927348"/>
            <a:ext cx="256032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4728" y="3877056"/>
            <a:ext cx="19659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状态提交层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877056"/>
            <a:ext cx="8686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23262C"/>
                </a:solidFill>
                <a:latin typeface="Microsoft YaHei"/>
              </a:defRPr>
            </a:pPr>
            <a:r>
              <a:t>DynamicKafkaSinkWriterState 与 DynamicKafkaCommittable 让 route 信息进入 Checkpoint/Committer。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0175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2676F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300" b="1">
                <a:solidFill>
                  <a:srgbClr val="1F4976"/>
                </a:solidFill>
                <a:latin typeface="Microsoft YaHei"/>
              </a:defRPr>
            </a:pPr>
            <a:r>
              <a:rPr sz="2300" b="1">
                <a:solidFill>
                  <a:srgbClr val="1F4976"/>
                </a:solidFill>
                <a:latin typeface="Microsoft YaHei"/>
              </a:rPr>
              <a:t>代码结构：论文设计在仓库中的落点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79552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60" b="0">
                <a:solidFill>
                  <a:srgbClr val="62676F"/>
                </a:solidFill>
                <a:latin typeface="Microsoft YaHei"/>
              </a:defRPr>
            </a:pPr>
            <a:r>
              <a:t>connector 是核心交付，app 是验证载体，docs 保存论文和实验复现材料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836676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847088"/>
          <a:ext cx="804672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601980"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模块/文件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职责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论文对应内容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connector/.../DynamicKafkaSink.java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实现 TwoPhaseCommittingStatefulSink，创建 writer/committer/serializer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第 4 章总体架构与 Sink API 接入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connector/.../writer/DynamicKafkaSinkWriter.java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动态发现、显式路由、writer 创建、快照、预提交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第 4 章核心流程与 route 生命周期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connector/.../metadata/SingleClusterTopicMetadataService.java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基于 AdminClient 获取 Topic 元数据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第 4 章元数据发现层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connector/.../committer/DynamicKafkaCommitter.java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按 route 分组提交 KafkaCommittable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第 4 章 Exactly-once 提交流程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app/.../DynamicJob.java / AutoDiscoveryJob.java / RegularJob.java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广播 route 更新、数据生成、自动发现和静态基线实验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第 5 章实验载体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41080" y="30175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2676F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300" b="1">
                <a:solidFill>
                  <a:srgbClr val="1F4976"/>
                </a:solidFill>
                <a:latin typeface="Microsoft YaHei"/>
              </a:defRPr>
            </a:pPr>
            <a:r>
              <a:rPr sz="2300" b="1">
                <a:solidFill>
                  <a:srgbClr val="1F4976"/>
                </a:solidFill>
                <a:latin typeface="Microsoft YaHei"/>
              </a:rPr>
              <a:t>实现一：Topic 元数据发现与正则匹配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79552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60" b="0">
                <a:solidFill>
                  <a:srgbClr val="62676F"/>
                </a:solidFill>
                <a:latin typeface="Microsoft YaHei"/>
              </a:defRPr>
            </a:pPr>
            <a:r>
              <a:t>Kafka Topic 被抽象为 KafkaStream，streamId 在当前原型中等价于 Topic 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836676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703320" cy="2971800"/>
          </a:xfrm>
          <a:prstGeom prst="rect">
            <a:avLst/>
          </a:prstGeom>
          <a:solidFill>
            <a:srgbClr val="FAFAFA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11680"/>
            <a:ext cx="348386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40" b="1">
                <a:solidFill>
                  <a:srgbClr val="1F4976"/>
                </a:solidFill>
                <a:latin typeface="Microsoft YaHei"/>
              </a:defRPr>
            </a:pPr>
            <a:r>
              <a:t>SingleClusterTopicMetadataService.getAllStreams()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04288"/>
            <a:ext cx="3447287" cy="2514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>
                <a:solidFill>
                  <a:srgbClr val="30363D"/>
                </a:solidFill>
                <a:latin typeface="Consolas"/>
              </a:defRPr>
            </a:pPr>
            <a:r>
              <a:t>return getAdminClient().listTopics().names().get().stream()</a:t>
            </a:r>
            <a:br/>
            <a:r>
              <a:t>    .map(this::createKafkaStream)</a:t>
            </a:r>
            <a:br/>
            <a:r>
              <a:t>    .collect(Collectors.toSet());</a:t>
            </a:r>
            <a:br/>
            <a:br/>
            <a:r>
              <a:t>private KafkaStream createKafkaStream(String topic) {</a:t>
            </a:r>
            <a:br/>
            <a:r>
              <a:t>    ClusterMetadata meta = new ClusterMetadata(</a:t>
            </a:r>
            <a:br/>
            <a:r>
              <a:t>        Collections.singleton(topic), properties);</a:t>
            </a:r>
            <a:br/>
            <a:r>
              <a:t>    return new KafkaStream(topic,</a:t>
            </a:r>
            <a:br/>
            <a:r>
              <a:t>        Collections.singletonMap(kafkaClusterId, meta));</a:t>
            </a:r>
            <a:br/>
            <a: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1938528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19" b="1">
                <a:solidFill>
                  <a:srgbClr val="1F4976"/>
                </a:solidFill>
                <a:latin typeface="Microsoft YaHei"/>
              </a:defRPr>
            </a:pPr>
            <a:r>
              <a:t>设计含义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36592" y="2194560"/>
            <a:ext cx="530352" cy="32004"/>
          </a:xfrm>
          <a:prstGeom prst="rect">
            <a:avLst/>
          </a:prstGeom>
          <a:solidFill>
            <a:srgbClr val="1F4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331720"/>
            <a:ext cx="342900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120">
                <a:solidFill>
                  <a:srgbClr val="23262C"/>
                </a:solidFill>
                <a:latin typeface="Microsoft YaHei"/>
              </a:defRPr>
            </a:pPr>
            <a:r>
              <a:t>元数据事实来源：Kafka AdminClient，而不是 Flink 内部事件通知</a:t>
            </a:r>
          </a:p>
          <a:p>
            <a:pPr>
              <a:spcAft>
                <a:spcPts val="300"/>
              </a:spcAft>
              <a:defRPr sz="1120">
                <a:solidFill>
                  <a:srgbClr val="23262C"/>
                </a:solidFill>
                <a:latin typeface="Microsoft YaHei"/>
              </a:defRPr>
            </a:pPr>
            <a:r>
              <a:t>发现粒度：Topic 级；不改变 Kafka partition 分配和 producer 发送语义</a:t>
            </a:r>
          </a:p>
          <a:p>
            <a:pPr>
              <a:spcAft>
                <a:spcPts val="300"/>
              </a:spcAft>
              <a:defRPr sz="1120">
                <a:solidFill>
                  <a:srgbClr val="23262C"/>
                </a:solidFill>
                <a:latin typeface="Microsoft YaHei"/>
              </a:defRPr>
            </a:pPr>
            <a:r>
              <a:t>正则匹配位置：StreamPatternSubscriber 对 KafkaStream.streamId 过滤</a:t>
            </a:r>
          </a:p>
          <a:p>
            <a:pPr>
              <a:spcAft>
                <a:spcPts val="300"/>
              </a:spcAft>
              <a:defRPr sz="1120">
                <a:solidFill>
                  <a:srgbClr val="23262C"/>
                </a:solidFill>
                <a:latin typeface="Microsoft YaHei"/>
              </a:defRPr>
            </a:pPr>
            <a:r>
              <a:t>发现延迟上界：主要受 discovery_interval_ms 与本地调度影响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4224528"/>
            <a:ext cx="347472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46904" y="4334256"/>
            <a:ext cx="3218687" cy="210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论文对应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6904" y="4608576"/>
            <a:ext cx="3218687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19" b="0">
                <a:solidFill>
                  <a:srgbClr val="23262C"/>
                </a:solidFill>
                <a:latin typeface="Microsoft YaHei"/>
              </a:defRPr>
            </a:pPr>
            <a:r>
              <a:t>第 2 章说明 Source 正则订阅不能直接迁移到 Sink；第 4 章将 Topic 元数据作为动态写入目标来源。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0175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2676F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300" b="1">
                <a:solidFill>
                  <a:srgbClr val="1F4976"/>
                </a:solidFill>
                <a:latin typeface="Microsoft YaHei"/>
              </a:defRPr>
            </a:pPr>
            <a:r>
              <a:rPr sz="2300" b="1">
                <a:solidFill>
                  <a:srgbClr val="1F4976"/>
                </a:solidFill>
                <a:latin typeface="Microsoft YaHei"/>
              </a:rPr>
              <a:t>实现二：Writer 主写入流程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79552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60" b="0">
                <a:solidFill>
                  <a:srgbClr val="62676F"/>
                </a:solidFill>
                <a:latin typeface="Microsoft YaHei"/>
              </a:defRPr>
            </a:pPr>
            <a:r>
              <a:t>同一个 write() 入口同时处理 route 更新事件、显式路由数据和自动发现数据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836676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01952"/>
            <a:ext cx="3977639" cy="3246120"/>
          </a:xfrm>
          <a:prstGeom prst="rect">
            <a:avLst/>
          </a:prstGeom>
          <a:solidFill>
            <a:srgbClr val="FAFAFA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93392"/>
            <a:ext cx="375818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40" b="1">
                <a:solidFill>
                  <a:srgbClr val="1F4976"/>
                </a:solidFill>
                <a:latin typeface="Microsoft YaHei"/>
              </a:defRPr>
            </a:pPr>
            <a:r>
              <a:t>DynamicKafkaSinkWriter.write()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86000"/>
            <a:ext cx="3721607" cy="2788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>
                <a:solidFill>
                  <a:srgbClr val="30363D"/>
                </a:solidFill>
                <a:latin typeface="Consolas"/>
              </a:defRPr>
            </a:pPr>
            <a:r>
              <a:t>if (element instanceof DynamicKafkaRouteEvent) {</a:t>
            </a:r>
            <a:br/>
            <a:r>
              <a:t>    if (routeEvent.isRouteUpdate()) {</a:t>
            </a:r>
            <a:br/>
            <a:r>
              <a:t>        applyRouteUpdates(routeEvent.getRouteUpdates());</a:t>
            </a:r>
            <a:br/>
            <a:r>
              <a:t>        return;</a:t>
            </a:r>
            <a:br/>
            <a:r>
              <a:t>    }</a:t>
            </a:r>
            <a:br/>
            <a:r>
              <a:t>    if (routeId != null) {</a:t>
            </a:r>
            <a:br/>
            <a:r>
              <a:t>        writeToExplicitRoute(routeId, element, context);</a:t>
            </a:r>
            <a:br/>
            <a:r>
              <a:t>        return;</a:t>
            </a:r>
            <a:br/>
            <a:r>
              <a:t>    }</a:t>
            </a:r>
            <a:br/>
            <a:r>
              <a:t>}</a:t>
            </a:r>
            <a:br/>
            <a:r>
              <a:t>refreshRouteIfNeeded(false);</a:t>
            </a:r>
            <a:br/>
            <a:r>
              <a:t>for (String routeId : activeRouteIds) {</a:t>
            </a:r>
            <a:br/>
            <a:r>
              <a:t>    clusterWritersByRouteId.get(routeId).writer.write(element, context);</a:t>
            </a:r>
            <a:br/>
            <a:r>
              <a:t>}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19472" y="1938528"/>
          <a:ext cx="3520440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480"/>
                <a:gridCol w="1173480"/>
                <a:gridCol w="1173480"/>
              </a:tblGrid>
              <a:tr h="468629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输入类型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处理方式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结果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route 更新事件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applyRouteUpdates()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刷新逻辑 route 表与解析缓存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携带 routeId 的数据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writeToExplicitRoute()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按逻辑 route 分发到物理 Topic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68632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不携带 routeId 的数据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refreshRouteIfNeeded()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写入所有 activeRouteIds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919472" y="4069080"/>
            <a:ext cx="352044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65776" y="4178808"/>
            <a:ext cx="3264408" cy="210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关键点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65776" y="4453128"/>
            <a:ext cx="326440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19" b="0">
                <a:solidFill>
                  <a:srgbClr val="23262C"/>
                </a:solidFill>
                <a:latin typeface="Microsoft YaHei"/>
              </a:defRPr>
            </a:pPr>
            <a:r>
              <a:t>自动发现路径默认 fan-out 到所有活动 route；显式 route 路径用于业务分流。两条路径最终统一落到 clusterWritersByRouteId。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0175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2676F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300" b="1">
                <a:solidFill>
                  <a:srgbClr val="1F4976"/>
                </a:solidFill>
                <a:latin typeface="Microsoft YaHei"/>
              </a:defRPr>
            </a:pPr>
            <a:r>
              <a:rPr sz="2300" b="1">
                <a:solidFill>
                  <a:srgbClr val="1F4976"/>
                </a:solidFill>
                <a:latin typeface="Microsoft YaHei"/>
              </a:rPr>
              <a:t>实现三：逻辑 route 与物理 Topic 解耦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79552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60" b="0">
                <a:solidFill>
                  <a:srgbClr val="62676F"/>
                </a:solidFill>
                <a:latin typeface="Microsoft YaHei"/>
              </a:defRPr>
            </a:pPr>
            <a:r>
              <a:t>应用层用广播状态传播 route_map，connector 内部解析到物理 route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836676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01952"/>
            <a:ext cx="3840480" cy="3200400"/>
          </a:xfrm>
          <a:prstGeom prst="rect">
            <a:avLst/>
          </a:prstGeom>
          <a:solidFill>
            <a:srgbClr val="FAFAFA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93392"/>
            <a:ext cx="362102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40" b="1">
                <a:solidFill>
                  <a:srgbClr val="1F4976"/>
                </a:solidFill>
                <a:latin typeface="Microsoft YaHei"/>
              </a:defRPr>
            </a:pPr>
            <a:r>
              <a:t>DynamicJob.RouteBroadcastProcessFunction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86000"/>
            <a:ext cx="3584448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>
                <a:solidFill>
                  <a:srgbClr val="30363D"/>
                </a:solidFill>
                <a:latin typeface="Consolas"/>
              </a:defRPr>
            </a:pPr>
            <a:r>
              <a:t>routeUpdates = env.fromData(</a:t>
            </a:r>
            <a:br/>
            <a:r>
              <a:t>    DynamicSinkEvent.update(routeMap))</a:t>
            </a:r>
            <a:br/>
            <a:r>
              <a:t>    .broadcast(routeMapStateDesc);</a:t>
            </a:r>
            <a:br/>
            <a:br/>
            <a:r>
              <a:t>processElement(value, ctx, out):</a:t>
            </a:r>
            <a:br/>
            <a:r>
              <a:t>  if broadcastState contains value.routeId:</a:t>
            </a:r>
            <a:br/>
            <a:r>
              <a:t>      out.collect(value)</a:t>
            </a:r>
            <a:br/>
            <a:br/>
            <a:r>
              <a:t>processBroadcastElement(value, ctx, out):</a:t>
            </a:r>
            <a:br/>
            <a:r>
              <a:t>  update broadcastState(routeId -&gt; destination)</a:t>
            </a:r>
            <a:br/>
            <a:r>
              <a:t>  out.collect(value)  // 继续发送给 Sink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901952"/>
            <a:ext cx="3703320" cy="3200400"/>
          </a:xfrm>
          <a:prstGeom prst="rect">
            <a:avLst/>
          </a:prstGeom>
          <a:solidFill>
            <a:srgbClr val="FAFAFA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0328" y="1993392"/>
            <a:ext cx="3483863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40" b="1">
                <a:solidFill>
                  <a:srgbClr val="1F4976"/>
                </a:solidFill>
                <a:latin typeface="Microsoft YaHei"/>
              </a:defRPr>
            </a:pPr>
            <a:r>
              <a:t>DynamicKafkaSinkWriter.resolveExplicitRoutes()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28616" y="2286000"/>
            <a:ext cx="3447287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>
                <a:solidFill>
                  <a:srgbClr val="30363D"/>
                </a:solidFill>
                <a:latin typeface="Consolas"/>
              </a:defRPr>
            </a:pPr>
            <a:r>
              <a:t>topicPattern = Pattern.compile(destination.getTopicPattern());</a:t>
            </a:r>
            <a:br/>
            <a:r>
              <a:t>for (KafkaStream stream : kafkaMetadataService.getAllStreams())</a:t>
            </a:r>
            <a:br/>
            <a:r>
              <a:t>  for (String topic : clusterMetadata.getTopics())</a:t>
            </a:r>
            <a:br/>
            <a:r>
              <a:t>    if topicPattern.matcher(topic).find():</a:t>
            </a:r>
            <a:br/>
            <a:r>
              <a:t>       routeId = logicalRouteId + '|' + clusterId + '|'</a:t>
            </a:r>
            <a:br/>
            <a:r>
              <a:t>               + topic + '|' + destination.bootstrapServers</a:t>
            </a:r>
            <a:br/>
            <a:r>
              <a:t>       createResolvedRoute(routeId, clusterId, topic, destination)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30175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2676F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300" b="1">
                <a:solidFill>
                  <a:srgbClr val="1F4976"/>
                </a:solidFill>
                <a:latin typeface="Microsoft YaHei"/>
              </a:defRPr>
            </a:pPr>
            <a:r>
              <a:rPr sz="2300" b="1">
                <a:solidFill>
                  <a:srgbClr val="1F4976"/>
                </a:solidFill>
                <a:latin typeface="Microsoft YaHei"/>
              </a:rPr>
              <a:t>实现四：route 刷新与 writer 生命周期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79552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60" b="0">
                <a:solidFill>
                  <a:srgbClr val="62676F"/>
                </a:solidFill>
                <a:latin typeface="Microsoft YaHei"/>
              </a:defRPr>
            </a:pPr>
            <a:r>
              <a:t>全量重算活动集合，惰性创建缺失 writer，并在非事务路径清理退役 writer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836676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794760" cy="3090672"/>
          </a:xfrm>
          <a:prstGeom prst="rect">
            <a:avLst/>
          </a:prstGeom>
          <a:solidFill>
            <a:srgbClr val="FAFAFA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11680"/>
            <a:ext cx="357530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40" b="1">
                <a:solidFill>
                  <a:srgbClr val="1F4976"/>
                </a:solidFill>
                <a:latin typeface="Microsoft YaHei"/>
              </a:defRPr>
            </a:pPr>
            <a:r>
              <a:t>refreshRouteIfNeeded(force)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04288"/>
            <a:ext cx="3538728" cy="2633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>
                <a:solidFill>
                  <a:srgbClr val="30363D"/>
                </a:solidFill>
                <a:latin typeface="Consolas"/>
              </a:defRPr>
            </a:pPr>
            <a:r>
              <a:t>if metadataRefreshIntervalMs &gt; 0</a:t>
            </a:r>
            <a:br/>
            <a:r>
              <a:t>   &amp;&amp; now &lt; nextMetadataRefreshTimestamp: return</a:t>
            </a:r>
            <a:br/>
            <a:br/>
            <a:r>
              <a:t>routes = resolveRoutes();</a:t>
            </a:r>
            <a:br/>
            <a:r>
              <a:t>activeRouteIds = routes.map(routeId).collect(toSet());</a:t>
            </a:r>
            <a:br/>
            <a:r>
              <a:t>nextMetadataRefreshTimestamp = now + interval;</a:t>
            </a:r>
            <a:br/>
            <a:br/>
            <a:r>
              <a:t>for route in routes:</a:t>
            </a:r>
            <a:br/>
            <a:r>
              <a:t>  clusterWritersByRouteId.computeIfAbsent(</a:t>
            </a:r>
            <a:br/>
            <a:r>
              <a:t>      route.routeId, ignored -&gt; createClusterWriter(...));</a:t>
            </a:r>
            <a:br/>
            <a:r>
              <a:t>cleanupRetiredWriters();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920240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19" b="1">
                <a:solidFill>
                  <a:srgbClr val="1F4976"/>
                </a:solidFill>
                <a:latin typeface="Microsoft YaHei"/>
              </a:defRPr>
            </a:pPr>
            <a:r>
              <a:t>生命周期策略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2176272"/>
            <a:ext cx="530352" cy="32004"/>
          </a:xfrm>
          <a:prstGeom prst="rect">
            <a:avLst/>
          </a:prstGeom>
          <a:solidFill>
            <a:srgbClr val="1F4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00600" y="2350008"/>
            <a:ext cx="256032" cy="256032"/>
          </a:xfrm>
          <a:prstGeom prst="ellipse">
            <a:avLst/>
          </a:prstGeom>
          <a:solidFill>
            <a:srgbClr val="1F4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382012"/>
            <a:ext cx="256032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4648" y="2331720"/>
            <a:ext cx="19659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未发现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331720"/>
            <a:ext cx="1417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23262C"/>
                </a:solidFill>
                <a:latin typeface="Microsoft YaHei"/>
              </a:defRPr>
            </a:pPr>
            <a:r>
              <a:t>Topic 不存在或不匹配正则，不创建 writer。</a:t>
            </a:r>
          </a:p>
        </p:txBody>
      </p:sp>
      <p:sp>
        <p:nvSpPr>
          <p:cNvPr id="15" name="Oval 14"/>
          <p:cNvSpPr/>
          <p:nvPr/>
        </p:nvSpPr>
        <p:spPr>
          <a:xfrm>
            <a:off x="4800600" y="2916936"/>
            <a:ext cx="256032" cy="256032"/>
          </a:xfrm>
          <a:prstGeom prst="ellipse">
            <a:avLst/>
          </a:prstGeom>
          <a:solidFill>
            <a:srgbClr val="8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948940"/>
            <a:ext cx="256032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4648" y="2898648"/>
            <a:ext cx="19659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已发现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898648"/>
            <a:ext cx="1417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23262C"/>
                </a:solidFill>
                <a:latin typeface="Microsoft YaHei"/>
              </a:defRPr>
            </a:pPr>
            <a:r>
              <a:t>元数据刷新命中 Topic，生成 ResolvedRoute。</a:t>
            </a:r>
          </a:p>
        </p:txBody>
      </p:sp>
      <p:sp>
        <p:nvSpPr>
          <p:cNvPr id="19" name="Oval 18"/>
          <p:cNvSpPr/>
          <p:nvPr/>
        </p:nvSpPr>
        <p:spPr>
          <a:xfrm>
            <a:off x="4800600" y="3483864"/>
            <a:ext cx="256032" cy="256032"/>
          </a:xfrm>
          <a:prstGeom prst="ellipse">
            <a:avLst/>
          </a:prstGeom>
          <a:solidFill>
            <a:srgbClr val="1F4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3515868"/>
            <a:ext cx="256032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3465576"/>
            <a:ext cx="19659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活跃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465576"/>
            <a:ext cx="1417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23262C"/>
                </a:solidFill>
                <a:latin typeface="Microsoft YaHei"/>
              </a:defRPr>
            </a:pPr>
            <a:r>
              <a:t>首次写入时懒创建 KafkaSink writer，并参与快照/提交。</a:t>
            </a:r>
          </a:p>
        </p:txBody>
      </p:sp>
      <p:sp>
        <p:nvSpPr>
          <p:cNvPr id="23" name="Oval 22"/>
          <p:cNvSpPr/>
          <p:nvPr/>
        </p:nvSpPr>
        <p:spPr>
          <a:xfrm>
            <a:off x="4800600" y="4050791"/>
            <a:ext cx="256032" cy="256032"/>
          </a:xfrm>
          <a:prstGeom prst="ellipse">
            <a:avLst/>
          </a:prstGeom>
          <a:solidFill>
            <a:srgbClr val="8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4082796"/>
            <a:ext cx="256032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4648" y="4032504"/>
            <a:ext cx="19659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退役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032504"/>
            <a:ext cx="1417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23262C"/>
                </a:solidFill>
                <a:latin typeface="Microsoft YaHei"/>
              </a:defRPr>
            </a:pPr>
            <a:r>
              <a:t>不再被 active route 或显式 route 引用；非 EO 路径关闭并移除。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4617720"/>
            <a:ext cx="34290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46904" y="4727448"/>
            <a:ext cx="3172968" cy="210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8F1F24"/>
                </a:solidFill>
                <a:latin typeface="Microsoft YaHei"/>
              </a:defRPr>
            </a:pPr>
            <a:r>
              <a:t>Exactly-once 取舍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46904" y="5001768"/>
            <a:ext cx="3172968" cy="640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 b="0">
                <a:solidFill>
                  <a:srgbClr val="23262C"/>
                </a:solidFill>
                <a:latin typeface="Microsoft YaHei"/>
              </a:defRPr>
            </a:pPr>
            <a:r>
              <a:t>cleanupRetiredWriters() 在 EXACTLY_ONCE 下直接返回，避免过早关闭仍可能参与未完成事务的 writer。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0175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2676F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300" b="1">
                <a:solidFill>
                  <a:srgbClr val="1F4976"/>
                </a:solidFill>
                <a:latin typeface="Microsoft YaHei"/>
              </a:defRPr>
            </a:pPr>
            <a:r>
              <a:rPr sz="2300" b="1">
                <a:solidFill>
                  <a:srgbClr val="1F4976"/>
                </a:solidFill>
                <a:latin typeface="Microsoft YaHei"/>
              </a:rPr>
              <a:t>实现五：每个物理 route 复用一个底层 KafkaSink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79552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60" b="0">
                <a:solidFill>
                  <a:srgbClr val="62676F"/>
                </a:solidFill>
                <a:latin typeface="Microsoft YaHei"/>
              </a:defRPr>
            </a:pPr>
            <a:r>
              <a:t>动态层不重写 Kafka producer，而是为 route 克隆 serializer 并创建 KafkaSink writer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836676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4297680" cy="3474720"/>
          </a:xfrm>
          <a:prstGeom prst="rect">
            <a:avLst/>
          </a:prstGeom>
          <a:solidFill>
            <a:srgbClr val="FAFAFA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65960"/>
            <a:ext cx="407822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40" b="1">
                <a:solidFill>
                  <a:srgbClr val="1F4976"/>
                </a:solidFill>
                <a:latin typeface="Microsoft YaHei"/>
              </a:defRPr>
            </a:pPr>
            <a:r>
              <a:t>createClusterWriter(...)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58568"/>
            <a:ext cx="4041648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>
                <a:solidFill>
                  <a:srgbClr val="30363D"/>
                </a:solidFill>
                <a:latin typeface="Consolas"/>
              </a:defRPr>
            </a:pPr>
            <a:r>
              <a:t>KafkaRecordSerializationSchema&lt;IN&gt; clusterSerializer =</a:t>
            </a:r>
            <a:br/>
            <a:r>
              <a:t>    cloneSerializerForRoute(topic);</a:t>
            </a:r>
            <a:br/>
            <a:br/>
            <a:r>
              <a:t>TwoPhaseCommittingStatefulSink&lt;IN, KafkaWriterState, KafkaCommittable&gt; clusterSink =</a:t>
            </a:r>
            <a:br/>
            <a:r>
              <a:t>    KafkaSink.&lt;IN&gt;builder()</a:t>
            </a:r>
            <a:br/>
            <a:r>
              <a:t>        .setDeliveryGuarantee(deliveryGuarantee)</a:t>
            </a:r>
            <a:br/>
            <a:r>
              <a:t>        .setKafkaProducerConfig(kafkaProducerConfig)</a:t>
            </a:r>
            <a:br/>
            <a:r>
              <a:t>        .setBootstrapServers(...)</a:t>
            </a:r>
            <a:br/>
            <a:r>
              <a:t>        .setRecordSerializer(clusterSerializer)</a:t>
            </a:r>
            <a:br/>
            <a:r>
              <a:t>        .setTransactionalIdPrefix(routeTransactionalIdPrefix)</a:t>
            </a:r>
            <a:br/>
            <a:r>
              <a:t>        .build();</a:t>
            </a:r>
            <a:br/>
            <a:br/>
            <a:r>
              <a:t>writer = recoveredStates.isEmpty()</a:t>
            </a:r>
            <a:br/>
            <a:r>
              <a:t>    ? clusterSink.createWriter(context)</a:t>
            </a:r>
            <a:br/>
            <a:r>
              <a:t>    : clusterSink.restoreWriter(context, recoveredStates);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5232" y="1920240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19" b="1">
                <a:solidFill>
                  <a:srgbClr val="1F4976"/>
                </a:solidFill>
                <a:latin typeface="Microsoft YaHei"/>
              </a:defRPr>
            </a:pPr>
            <a:r>
              <a:t>设计收益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85232" y="2176272"/>
            <a:ext cx="530352" cy="32004"/>
          </a:xfrm>
          <a:prstGeom prst="rect">
            <a:avLst/>
          </a:prstGeom>
          <a:solidFill>
            <a:srgbClr val="1F4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2304288"/>
            <a:ext cx="315468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120">
                <a:solidFill>
                  <a:srgbClr val="23262C"/>
                </a:solidFill>
                <a:latin typeface="Microsoft YaHei"/>
              </a:defRPr>
            </a:pPr>
            <a:r>
              <a:t>复用官方 KafkaSink 的分区、发送、flush、事务提交等成熟逻辑</a:t>
            </a:r>
          </a:p>
          <a:p>
            <a:pPr>
              <a:spcAft>
                <a:spcPts val="300"/>
              </a:spcAft>
              <a:defRPr sz="1120">
                <a:solidFill>
                  <a:srgbClr val="23262C"/>
                </a:solidFill>
                <a:latin typeface="Microsoft YaHei"/>
              </a:defRPr>
            </a:pPr>
            <a:r>
              <a:t>动态层只负责 route 解析、writer 生命周期和状态/committable 包装</a:t>
            </a:r>
          </a:p>
          <a:p>
            <a:pPr>
              <a:spcAft>
                <a:spcPts val="300"/>
              </a:spcAft>
              <a:defRPr sz="1120">
                <a:solidFill>
                  <a:srgbClr val="23262C"/>
                </a:solidFill>
                <a:latin typeface="Microsoft YaHei"/>
              </a:defRPr>
            </a:pPr>
            <a:r>
              <a:t>FixedTopicKafkaRecordSerializationSchema 强制改写最终发送 Topic</a:t>
            </a:r>
          </a:p>
          <a:p>
            <a:pPr>
              <a:spcAft>
                <a:spcPts val="300"/>
              </a:spcAft>
              <a:defRPr sz="1120">
                <a:solidFill>
                  <a:srgbClr val="23262C"/>
                </a:solidFill>
                <a:latin typeface="Microsoft YaHei"/>
              </a:defRPr>
            </a:pPr>
            <a:r>
              <a:t>恢复时可根据 route 级状态重建对应底层 writer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4407408"/>
            <a:ext cx="31546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95544" y="4517136"/>
            <a:ext cx="2898648" cy="210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8F1F24"/>
                </a:solidFill>
                <a:latin typeface="Microsoft YaHei"/>
              </a:defRPr>
            </a:pPr>
            <a:r>
              <a:t>答辩表述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95544" y="4791456"/>
            <a:ext cx="2898648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69" b="0">
                <a:solidFill>
                  <a:srgbClr val="23262C"/>
                </a:solidFill>
                <a:latin typeface="Microsoft YaHei"/>
              </a:defRPr>
            </a:pPr>
            <a:r>
              <a:t>本文创新点不是重新实现 Kafka producer，而是把动态目标管理纳入 Flink Sink API 的 Writer/State/Committer 阶段。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0175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2676F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300" b="1">
                <a:solidFill>
                  <a:srgbClr val="1F4976"/>
                </a:solidFill>
                <a:latin typeface="Microsoft YaHei"/>
              </a:defRPr>
            </a:pPr>
            <a:r>
              <a:rPr sz="2300" b="1">
                <a:solidFill>
                  <a:srgbClr val="1F4976"/>
                </a:solidFill>
                <a:latin typeface="Microsoft YaHei"/>
              </a:rPr>
              <a:t>实现六：route 级状态进入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79552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60" b="0">
                <a:solidFill>
                  <a:srgbClr val="62676F"/>
                </a:solidFill>
                <a:latin typeface="Microsoft YaHei"/>
              </a:defRPr>
            </a:pPr>
            <a:r>
              <a:t>每个实际写入通道都作为可恢复单元保存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836676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01952"/>
            <a:ext cx="3840480" cy="3200400"/>
          </a:xfrm>
          <a:prstGeom prst="rect">
            <a:avLst/>
          </a:prstGeom>
          <a:solidFill>
            <a:srgbClr val="FAFAFA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93392"/>
            <a:ext cx="362102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40" b="1">
                <a:solidFill>
                  <a:srgbClr val="1F4976"/>
                </a:solidFill>
                <a:latin typeface="Microsoft YaHei"/>
              </a:defRPr>
            </a:pPr>
            <a:r>
              <a:t>snapshotState(checkpointId)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86000"/>
            <a:ext cx="3584448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>
                <a:solidFill>
                  <a:srgbClr val="30363D"/>
                </a:solidFill>
                <a:latin typeface="Consolas"/>
              </a:defRPr>
            </a:pPr>
            <a:r>
              <a:t>refreshRouteIfNeeded(false);</a:t>
            </a:r>
            <a:br/>
            <a:r>
              <a:t>for (ClusterWriter clusterWriter : clusterWritersByRouteId.values()) {</a:t>
            </a:r>
            <a:br/>
            <a:r>
              <a:t>    kafkaStates = clusterWriter.writer.snapshotState(checkpointId);</a:t>
            </a:r>
            <a:br/>
            <a:r>
              <a:t>    states.add(new DynamicKafkaSinkWriterState(</a:t>
            </a:r>
            <a:br/>
            <a:r>
              <a:t>        clusterWriter.routeId,</a:t>
            </a:r>
            <a:br/>
            <a:r>
              <a:t>        clusterWriter.kafkaClusterId,</a:t>
            </a:r>
            <a:br/>
            <a:r>
              <a:t>        clusterWriter.topic,</a:t>
            </a:r>
            <a:br/>
            <a:r>
              <a:t>        clusterWriter.transactionalIdPrefix,</a:t>
            </a:r>
            <a:br/>
            <a:r>
              <a:t>        clusterWriter.kafkaProducerConfig,</a:t>
            </a:r>
            <a:br/>
            <a:r>
              <a:t>        kafkaStates));</a:t>
            </a:r>
            <a:br/>
            <a:r>
              <a:t>}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00600" y="1901952"/>
          <a:ext cx="37033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660"/>
                <a:gridCol w="1851660"/>
              </a:tblGrid>
              <a:tr h="4419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状态字段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作用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routeId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恢复和提交时定位物理 route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kafkaClusterId / topic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重建目标集群与 Topic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transactionalIdPrefix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恢复 EO 事务命名空间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kafkaProducerConfig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恢复 producer 连接配置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KafkaWriterState 列表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复用底层 KafkaSink writer 状态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800600" y="4736592"/>
            <a:ext cx="3703320" cy="5303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46904" y="4846320"/>
            <a:ext cx="3447287" cy="210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恢复路径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46904" y="5120640"/>
            <a:ext cx="3447287" cy="914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60" b="0">
                <a:solidFill>
                  <a:srgbClr val="23262C"/>
                </a:solidFill>
                <a:latin typeface="Microsoft YaHei"/>
              </a:defRPr>
            </a:pPr>
            <a:r>
              <a:t>DynamicKafkaSink.restoreWriter(...) 将 recoveredState 传入 DynamicKafkaSinkWriter 构造函数，构造函数再按 route 重建 ClusterWriter。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0175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2676F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300" b="1">
                <a:solidFill>
                  <a:srgbClr val="1F4976"/>
                </a:solidFill>
                <a:latin typeface="Microsoft YaHei"/>
              </a:defRPr>
            </a:pPr>
            <a:r>
              <a:rPr sz="2300" b="1">
                <a:solidFill>
                  <a:srgbClr val="1F4976"/>
                </a:solidFill>
                <a:latin typeface="Microsoft YaHei"/>
              </a:rPr>
              <a:t>实现七：Exactly-once 的 route 级提交路径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79552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60" b="0">
                <a:solidFill>
                  <a:srgbClr val="62676F"/>
                </a:solidFill>
                <a:latin typeface="Microsoft YaHei"/>
              </a:defRPr>
            </a:pPr>
            <a:r>
              <a:t>DynamicKafkaCommittable 包装底层 KafkaCommittable，提交器按 route 分组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836676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01952"/>
            <a:ext cx="3794760" cy="2468880"/>
          </a:xfrm>
          <a:prstGeom prst="rect">
            <a:avLst/>
          </a:prstGeom>
          <a:solidFill>
            <a:srgbClr val="FAFAFA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93392"/>
            <a:ext cx="357530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40" b="1">
                <a:solidFill>
                  <a:srgbClr val="1F4976"/>
                </a:solidFill>
                <a:latin typeface="Microsoft YaHei"/>
              </a:defRPr>
            </a:pPr>
            <a:r>
              <a:t>prepareCommit()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86000"/>
            <a:ext cx="3538728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>
                <a:solidFill>
                  <a:srgbClr val="30363D"/>
                </a:solidFill>
                <a:latin typeface="Consolas"/>
              </a:defRPr>
            </a:pPr>
            <a:r>
              <a:t>for (ClusterWriter clusterWriter : clusterWritersByRouteId.values())</a:t>
            </a:r>
            <a:br/>
            <a:r>
              <a:t>  for (KafkaCommittable kc : clusterWriter.writer.prepareCommit())</a:t>
            </a:r>
            <a:br/>
            <a:r>
              <a:t>    committables.add(new DynamicKafkaCommittable(</a:t>
            </a:r>
            <a:br/>
            <a:r>
              <a:t>        clusterWriter.routeId,</a:t>
            </a:r>
            <a:br/>
            <a:r>
              <a:t>        clusterWriter.kafkaClusterId,</a:t>
            </a:r>
            <a:br/>
            <a:r>
              <a:t>        clusterWriter.topic,</a:t>
            </a:r>
            <a:br/>
            <a:r>
              <a:t>        clusterWriter.transactionalIdPrefix,</a:t>
            </a:r>
            <a:br/>
            <a:r>
              <a:t>        clusterWriter.kafkaProducerConfig,</a:t>
            </a:r>
            <a:br/>
            <a:r>
              <a:t>        kc));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901952"/>
            <a:ext cx="3794760" cy="2468880"/>
          </a:xfrm>
          <a:prstGeom prst="rect">
            <a:avLst/>
          </a:prstGeom>
          <a:solidFill>
            <a:srgbClr val="FAFAFA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4608" y="1993392"/>
            <a:ext cx="3575304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40" b="1">
                <a:solidFill>
                  <a:srgbClr val="1F4976"/>
                </a:solidFill>
                <a:latin typeface="Microsoft YaHei"/>
              </a:defRPr>
            </a:pPr>
            <a:r>
              <a:t>DynamicKafkaCommitter.commit()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896" y="2286000"/>
            <a:ext cx="3538728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>
                <a:solidFill>
                  <a:srgbClr val="30363D"/>
                </a:solidFill>
                <a:latin typeface="Consolas"/>
              </a:defRPr>
            </a:pPr>
            <a:r>
              <a:t>if deliveryGuarantee != EXACTLY_ONCE: return;</a:t>
            </a:r>
            <a:br/>
            <a:br/>
            <a:r>
              <a:t>requestsByRouteId = groupBy(request.getCommittable().getRouteId());</a:t>
            </a:r>
            <a:br/>
            <a:r>
              <a:t>for each routeId:</a:t>
            </a:r>
            <a:br/>
            <a:r>
              <a:t>  kafkaCommitter = committersByRouteId.computeIfAbsent(routeId,</a:t>
            </a:r>
            <a:br/>
            <a:r>
              <a:t>      new KafkaCommitter(routeConfig, transactionalIdPrefix, ...));</a:t>
            </a:r>
            <a:br/>
            <a:r>
              <a:t>  kafkaCommitter.commit(delegatingKafkaRequests);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617720"/>
            <a:ext cx="768096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" y="4727448"/>
            <a:ext cx="7424928" cy="210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8F1F24"/>
                </a:solidFill>
                <a:latin typeface="Microsoft YaHei"/>
              </a:defRPr>
            </a:pPr>
            <a:r>
              <a:t>事务隔离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5001768"/>
            <a:ext cx="7424928" cy="640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60" b="0">
                <a:solidFill>
                  <a:srgbClr val="23262C"/>
                </a:solidFill>
                <a:latin typeface="Microsoft YaHei"/>
              </a:defRPr>
            </a:pPr>
            <a:r>
              <a:t>buildTransactionalIdPrefix(routeId) = 全局 transactionalIdPrefix + routeId.hashCode()，避免多个物理 route 共享事务前缀。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0175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2676F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300" b="1">
                <a:solidFill>
                  <a:srgbClr val="1F4976"/>
                </a:solidFill>
                <a:latin typeface="Microsoft YaHei"/>
              </a:defRPr>
            </a:pPr>
            <a:r>
              <a:rPr sz="2300" b="1">
                <a:solidFill>
                  <a:srgbClr val="1F4976"/>
                </a:solidFill>
                <a:latin typeface="Microsoft YaHei"/>
              </a:rPr>
              <a:t>实验设计：需求、作业与指标一一对应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79552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60" b="0">
                <a:solidFill>
                  <a:srgbClr val="62676F"/>
                </a:solidFill>
                <a:latin typeface="Microsoft YaHei"/>
              </a:defRPr>
            </a:pPr>
            <a:r>
              <a:t>app 模块提供 AutoDiscoveryJob、DynamicJob、RegularJob 三类验证载体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836676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874519"/>
          <a:ext cx="80010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/>
                <a:gridCol w="2667000"/>
                <a:gridCol w="2667000"/>
              </a:tblGrid>
              <a:tr h="502920"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需求/指标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实验作业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配置与观测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动态 Topic 发现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AutoDiscoveryJob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stream_pattern='^exp-auto-.*$'；运行中创建 Topic；轮询 offset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显式 route 分发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DynamicJob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route-a/b → exp-dynamic-c/d；统计两个目标 Topic offset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静态基线对比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RegularJob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固定写入 exp-regular-2；同样运行约 30 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小规模扩展性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DynamicJob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2-route 与 4-route 配置对照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Checkpoint 协同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DynamicJob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checkpoint-interval-ms=5000；观察成功次数和完成时延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事务路径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DynamicJob + EXACTLY_ONCE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指定 transactional-id-prefix；观察 committed 输出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4672" y="5559552"/>
            <a:ext cx="7543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80" b="0">
                <a:solidFill>
                  <a:srgbClr val="62676F"/>
                </a:solidFill>
                <a:latin typeface="Microsoft YaHei"/>
              </a:defRPr>
            </a:pPr>
            <a:r>
              <a:t>实验边界：本地 Kafka、parallelism=1、小规模 route、短时间窗口；结论用于原型验证，不外推为生产性能。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30175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2676F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300" b="1">
                <a:solidFill>
                  <a:srgbClr val="1F4976"/>
                </a:solidFill>
                <a:latin typeface="Microsoft YaHei"/>
              </a:defRPr>
            </a:pPr>
            <a:r>
              <a:rPr sz="2300" b="1">
                <a:solidFill>
                  <a:srgbClr val="1F4976"/>
                </a:solidFill>
                <a:latin typeface="Microsoft YaHei"/>
              </a:rPr>
              <a:t>实验结果一：动态发现实时性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79552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60" b="0">
                <a:solidFill>
                  <a:srgbClr val="62676F"/>
                </a:solidFill>
                <a:latin typeface="Microsoft YaHei"/>
              </a:defRPr>
            </a:pPr>
            <a:r>
              <a:t>新增匹配 Topic 可在不重启作业的情况下进入写入路径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836676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938528"/>
            <a:ext cx="1325880" cy="713232"/>
          </a:xfrm>
          <a:prstGeom prst="roundRect">
            <a:avLst>
              <a:gd name="adj" fmla="val 6000"/>
            </a:avLst>
          </a:prstGeom>
          <a:solidFill>
            <a:srgbClr val="EFF4F8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29968"/>
            <a:ext cx="117957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50" b="1">
                <a:solidFill>
                  <a:srgbClr val="1F4976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68296"/>
            <a:ext cx="117957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0">
                <a:solidFill>
                  <a:srgbClr val="62676F"/>
                </a:solidFill>
                <a:latin typeface="Microsoft YaHei"/>
              </a:defRPr>
            </a:pPr>
            <a:r>
              <a:t>重复样本数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938528"/>
            <a:ext cx="1554480" cy="713232"/>
          </a:xfrm>
          <a:prstGeom prst="roundRect">
            <a:avLst>
              <a:gd name="adj" fmla="val 6000"/>
            </a:avLst>
          </a:prstGeom>
          <a:solidFill>
            <a:srgbClr val="EFF4F8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872" y="2029968"/>
            <a:ext cx="140817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50" b="1">
                <a:solidFill>
                  <a:srgbClr val="1F4976"/>
                </a:solidFill>
                <a:latin typeface="Microsoft YaHei"/>
              </a:defRPr>
            </a:pPr>
            <a:r>
              <a:t>1.530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2368296"/>
            <a:ext cx="140817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0">
                <a:solidFill>
                  <a:srgbClr val="62676F"/>
                </a:solidFill>
                <a:latin typeface="Microsoft YaHei"/>
              </a:defRPr>
            </a:pPr>
            <a:r>
              <a:t>平均首次写入延迟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938528"/>
            <a:ext cx="1554480" cy="713232"/>
          </a:xfrm>
          <a:prstGeom prst="roundRect">
            <a:avLst>
              <a:gd name="adj" fmla="val 6000"/>
            </a:avLst>
          </a:prstGeom>
          <a:solidFill>
            <a:srgbClr val="EFF4F8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2232" y="2029968"/>
            <a:ext cx="140817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50" b="1">
                <a:solidFill>
                  <a:srgbClr val="8F1F24"/>
                </a:solidFill>
                <a:latin typeface="Microsoft YaHei"/>
              </a:defRPr>
            </a:pPr>
            <a:r>
              <a:t>2.418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2232" y="2368296"/>
            <a:ext cx="140817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0">
                <a:solidFill>
                  <a:srgbClr val="62676F"/>
                </a:solidFill>
                <a:latin typeface="Microsoft YaHei"/>
              </a:defRPr>
            </a:pPr>
            <a:r>
              <a:t>最大首次写入延迟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1938528"/>
            <a:ext cx="1325880" cy="713232"/>
          </a:xfrm>
          <a:prstGeom prst="roundRect">
            <a:avLst>
              <a:gd name="adj" fmla="val 6000"/>
            </a:avLst>
          </a:prstGeom>
          <a:solidFill>
            <a:srgbClr val="EFF4F8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9592" y="2029968"/>
            <a:ext cx="117957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50" b="1">
                <a:solidFill>
                  <a:srgbClr val="62676F"/>
                </a:solidFill>
                <a:latin typeface="Microsoft YaHei"/>
              </a:defRPr>
            </a:pPr>
            <a:r>
              <a:t>≤ 3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592" y="2368296"/>
            <a:ext cx="117957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0">
                <a:solidFill>
                  <a:srgbClr val="62676F"/>
                </a:solidFill>
                <a:latin typeface="Microsoft YaHei"/>
              </a:defRPr>
            </a:pPr>
            <a:r>
              <a:t>需求阈值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22960" y="2944368"/>
          <a:ext cx="52120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3020"/>
                <a:gridCol w="1303020"/>
                <a:gridCol w="1303020"/>
                <a:gridCol w="1303020"/>
              </a:tblGrid>
              <a:tr h="293914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轮次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Topic 编号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首次写入延迟 / s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首次观测 offset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第 1 轮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1.077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14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第 1 轮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2.412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第 1 轮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1.095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第 2 轮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1.103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14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第 2 轮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2.418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24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293916"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第 2 轮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1.074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236208" y="2971800"/>
            <a:ext cx="205740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50">
                <a:solidFill>
                  <a:srgbClr val="23262C"/>
                </a:solidFill>
                <a:latin typeface="Microsoft YaHei"/>
              </a:defRPr>
            </a:pPr>
            <a:r>
              <a:t>结果落在 1.074-2.418 s，与 discovery_interval_ms=2000 的轮询机制吻合</a:t>
            </a:r>
          </a:p>
          <a:p>
            <a:pPr>
              <a:spcAft>
                <a:spcPts val="300"/>
              </a:spcAft>
              <a:defRPr sz="950">
                <a:solidFill>
                  <a:srgbClr val="23262C"/>
                </a:solidFill>
                <a:latin typeface="Microsoft YaHei"/>
              </a:defRPr>
            </a:pPr>
            <a:r>
              <a:t>最大值低于 3 s 阈值，验证自动发现路径可用</a:t>
            </a:r>
          </a:p>
          <a:p>
            <a:pPr>
              <a:spcAft>
                <a:spcPts val="300"/>
              </a:spcAft>
              <a:defRPr sz="950">
                <a:solidFill>
                  <a:srgbClr val="23262C"/>
                </a:solidFill>
                <a:latin typeface="Microsoft YaHei"/>
              </a:defRPr>
            </a:pPr>
            <a:r>
              <a:t>延迟主因是等待下一次元数据刷新，而非 Kafka 写入本身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0175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2676F"/>
                </a:solidFill>
                <a:latin typeface="Microsoft YaHe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300" b="1">
                <a:solidFill>
                  <a:srgbClr val="1F4976"/>
                </a:solidFill>
                <a:latin typeface="Microsoft YaHei"/>
              </a:defRPr>
            </a:pPr>
            <a:r>
              <a:rPr sz="2300" b="1">
                <a:solidFill>
                  <a:srgbClr val="1F4976"/>
                </a:solidFill>
                <a:latin typeface="Microsoft YaHei"/>
              </a:rPr>
              <a:t>实验结果二：吞吐可接受性与扩展性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79552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60" b="0">
                <a:solidFill>
                  <a:srgbClr val="62676F"/>
                </a:solidFill>
                <a:latin typeface="Microsoft YaHei"/>
              </a:defRPr>
            </a:pPr>
            <a:r>
              <a:t>动态 2-route 与静态基线吞吐接近，4-route 未出现明显下降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836676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901952"/>
          <a:ext cx="49834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996696"/>
                <a:gridCol w="996696"/>
                <a:gridCol w="996696"/>
              </a:tblGrid>
              <a:tr h="429768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方案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语义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route 数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输出总条数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近似吞吐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静态基线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AT_LEAST_ONCE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5776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192.5 条/s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动态写入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AT_LEAST_ONCE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5742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191.4 条/s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动态写入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AT_LEAST_ONCE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5763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192.1 条/s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动态写入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EXACTLY_ONCE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2092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95.1 条/s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89320" y="1920240"/>
            <a:ext cx="1920240" cy="749808"/>
          </a:xfrm>
          <a:prstGeom prst="roundRect">
            <a:avLst>
              <a:gd name="adj" fmla="val 6000"/>
            </a:avLst>
          </a:prstGeom>
          <a:solidFill>
            <a:srgbClr val="EFF4F8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62472" y="2011680"/>
            <a:ext cx="177393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50" b="1">
                <a:solidFill>
                  <a:srgbClr val="8F1F24"/>
                </a:solidFill>
                <a:latin typeface="Microsoft YaHei"/>
              </a:defRPr>
            </a:pPr>
            <a:r>
              <a:t>0.59%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2472" y="2350008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0">
                <a:solidFill>
                  <a:srgbClr val="62676F"/>
                </a:solidFill>
                <a:latin typeface="Microsoft YaHei"/>
              </a:defRPr>
            </a:pPr>
            <a:r>
              <a:t>2-route 较静态基线下降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852928"/>
            <a:ext cx="1920240" cy="749808"/>
          </a:xfrm>
          <a:prstGeom prst="roundRect">
            <a:avLst>
              <a:gd name="adj" fmla="val 6000"/>
            </a:avLst>
          </a:prstGeom>
          <a:solidFill>
            <a:srgbClr val="EFF4F8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62472" y="2944368"/>
            <a:ext cx="177393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50" b="1">
                <a:solidFill>
                  <a:srgbClr val="1F4976"/>
                </a:solidFill>
                <a:latin typeface="Microsoft YaHei"/>
              </a:defRPr>
            </a:pPr>
            <a:r>
              <a:t>无下降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62472" y="3282696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0">
                <a:solidFill>
                  <a:srgbClr val="62676F"/>
                </a:solidFill>
                <a:latin typeface="Microsoft YaHei"/>
              </a:defRPr>
            </a:pPr>
            <a:r>
              <a:t>4-route 相对 2-route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3785615"/>
            <a:ext cx="1920240" cy="749808"/>
          </a:xfrm>
          <a:prstGeom prst="roundRect">
            <a:avLst>
              <a:gd name="adj" fmla="val 6000"/>
            </a:avLst>
          </a:prstGeom>
          <a:solidFill>
            <a:srgbClr val="EFF4F8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62472" y="3877055"/>
            <a:ext cx="177393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50" b="1">
                <a:solidFill>
                  <a:srgbClr val="62676F"/>
                </a:solidFill>
                <a:latin typeface="Microsoft YaHei"/>
              </a:defRPr>
            </a:pPr>
            <a:r>
              <a:t>95.1/s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2472" y="4215383"/>
            <a:ext cx="17739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0">
                <a:solidFill>
                  <a:srgbClr val="62676F"/>
                </a:solidFill>
                <a:latin typeface="Microsoft YaHei"/>
              </a:defRPr>
            </a:pPr>
            <a:r>
              <a:t>EO 路径吞吐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07408"/>
            <a:ext cx="7498079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80">
                <a:solidFill>
                  <a:srgbClr val="23262C"/>
                </a:solidFill>
                <a:latin typeface="Microsoft YaHei"/>
              </a:defRPr>
            </a:pPr>
            <a:r>
              <a:t>route-a / route-b 输出：2812 / 2930，约 49.0% / 51.0%，分布均衡</a:t>
            </a:r>
          </a:p>
          <a:p>
            <a:pPr>
              <a:spcAft>
                <a:spcPts val="300"/>
              </a:spcAft>
              <a:defRPr sz="980">
                <a:solidFill>
                  <a:srgbClr val="23262C"/>
                </a:solidFill>
                <a:latin typeface="Microsoft YaHei"/>
              </a:defRPr>
            </a:pPr>
            <a:r>
              <a:t>动态管理在当前本地小规模场景下不是主要瓶颈</a:t>
            </a:r>
          </a:p>
          <a:p>
            <a:pPr>
              <a:spcAft>
                <a:spcPts val="300"/>
              </a:spcAft>
              <a:defRPr sz="980">
                <a:solidFill>
                  <a:srgbClr val="23262C"/>
                </a:solidFill>
                <a:latin typeface="Microsoft YaHei"/>
              </a:defRPr>
            </a:pPr>
            <a:r>
              <a:t>EXACTLY_ONCE 吞吐约为 AT_LEAST_ONCE 的一半，成本来自事务与 Checkpoint 提交协同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0175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2676F"/>
                </a:solidFill>
                <a:latin typeface="Microsoft YaHe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300" b="1">
                <a:solidFill>
                  <a:srgbClr val="1F4976"/>
                </a:solidFill>
                <a:latin typeface="Microsoft YaHei"/>
              </a:defRPr>
            </a:pPr>
            <a:r>
              <a:rPr sz="2300" b="1">
                <a:solidFill>
                  <a:srgbClr val="1F4976"/>
                </a:solidFill>
                <a:latin typeface="Microsoft YaHei"/>
              </a:rPr>
              <a:t>实验结果三：Checkpoint 协同与事务路径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79552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60" b="0">
                <a:solidFill>
                  <a:srgbClr val="62676F"/>
                </a:solidFill>
                <a:latin typeface="Microsoft YaHei"/>
              </a:defRPr>
            </a:pPr>
            <a:r>
              <a:t>route 级状态和 committable 能参与 Flink 原生容错/提交链路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836676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19" b="1">
                <a:solidFill>
                  <a:srgbClr val="1F4976"/>
                </a:solidFill>
                <a:latin typeface="Microsoft YaHei"/>
              </a:defRPr>
            </a:pPr>
            <a:r>
              <a:t>Checkpoint 协同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57984"/>
            <a:ext cx="530352" cy="32004"/>
          </a:xfrm>
          <a:prstGeom prst="rect">
            <a:avLst/>
          </a:prstGeom>
          <a:solidFill>
            <a:srgbClr val="1F4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1417320" cy="713232"/>
          </a:xfrm>
          <a:prstGeom prst="roundRect">
            <a:avLst>
              <a:gd name="adj" fmla="val 6000"/>
            </a:avLst>
          </a:prstGeom>
          <a:solidFill>
            <a:srgbClr val="EFF4F8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23160"/>
            <a:ext cx="127101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50" b="1">
                <a:solidFill>
                  <a:srgbClr val="1F4976"/>
                </a:solidFill>
                <a:latin typeface="Microsoft YaHei"/>
              </a:defRPr>
            </a:pPr>
            <a:r>
              <a:t>5 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61487"/>
            <a:ext cx="127101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0">
                <a:solidFill>
                  <a:srgbClr val="62676F"/>
                </a:solidFill>
                <a:latin typeface="Microsoft YaHei"/>
              </a:defRPr>
            </a:pPr>
            <a:r>
              <a:t>连续成功 Checkpoint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2331720"/>
            <a:ext cx="1554480" cy="713232"/>
          </a:xfrm>
          <a:prstGeom prst="roundRect">
            <a:avLst>
              <a:gd name="adj" fmla="val 6000"/>
            </a:avLst>
          </a:prstGeom>
          <a:solidFill>
            <a:srgbClr val="EFF4F8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6312" y="2423160"/>
            <a:ext cx="140817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50" b="1">
                <a:solidFill>
                  <a:srgbClr val="8F1F24"/>
                </a:solidFill>
                <a:latin typeface="Microsoft YaHei"/>
              </a:defRPr>
            </a:pPr>
            <a:r>
              <a:t>18.2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6312" y="2761487"/>
            <a:ext cx="140817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0">
                <a:solidFill>
                  <a:srgbClr val="62676F"/>
                </a:solidFill>
                <a:latin typeface="Microsoft YaHei"/>
              </a:defRPr>
            </a:pPr>
            <a:r>
              <a:t>稳态平均完成时延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331720"/>
            <a:ext cx="1325880" cy="713232"/>
          </a:xfrm>
          <a:prstGeom prst="roundRect">
            <a:avLst>
              <a:gd name="adj" fmla="val 6000"/>
            </a:avLst>
          </a:prstGeom>
          <a:solidFill>
            <a:srgbClr val="EFF4F8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3672" y="2423160"/>
            <a:ext cx="117957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50" b="1">
                <a:solidFill>
                  <a:srgbClr val="62676F"/>
                </a:solidFill>
                <a:latin typeface="Microsoft YaHei"/>
              </a:defRPr>
            </a:pPr>
            <a:r>
              <a:t>≤100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2761487"/>
            <a:ext cx="117957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0">
                <a:solidFill>
                  <a:srgbClr val="62676F"/>
                </a:solidFill>
                <a:latin typeface="Microsoft YaHei"/>
              </a:defRPr>
            </a:pPr>
            <a:r>
              <a:t>需求阈值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73552"/>
            <a:ext cx="43891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980">
                <a:solidFill>
                  <a:srgbClr val="23262C"/>
                </a:solidFill>
                <a:latin typeface="Microsoft YaHei"/>
              </a:defRPr>
            </a:pPr>
            <a:r>
              <a:t>首次 Checkpoint 476 ms，后续 11/22/19/21 ms</a:t>
            </a:r>
          </a:p>
          <a:p>
            <a:pPr>
              <a:spcAft>
                <a:spcPts val="300"/>
              </a:spcAft>
              <a:defRPr sz="980">
                <a:solidFill>
                  <a:srgbClr val="23262C"/>
                </a:solidFill>
                <a:latin typeface="Microsoft YaHei"/>
              </a:defRPr>
            </a:pPr>
            <a:r>
              <a:t>source、广播控制流、dynamic sink 均收到 checkpoint completed 日志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24528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19" b="1">
                <a:solidFill>
                  <a:srgbClr val="8F1F24"/>
                </a:solidFill>
                <a:latin typeface="Microsoft YaHei"/>
              </a:defRPr>
            </a:pPr>
            <a:r>
              <a:t>Exactly-once 可运行性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480560"/>
            <a:ext cx="530352" cy="32004"/>
          </a:xfrm>
          <a:prstGeom prst="rect">
            <a:avLst/>
          </a:prstGeom>
          <a:solidFill>
            <a:srgbClr val="8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4617720"/>
            <a:ext cx="1417320" cy="713232"/>
          </a:xfrm>
          <a:prstGeom prst="roundRect">
            <a:avLst>
              <a:gd name="adj" fmla="val 6000"/>
            </a:avLst>
          </a:prstGeom>
          <a:solidFill>
            <a:srgbClr val="EFF4F8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4709159"/>
            <a:ext cx="127101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50" b="1">
                <a:solidFill>
                  <a:srgbClr val="8F1F24"/>
                </a:solidFill>
                <a:latin typeface="Microsoft YaHei"/>
              </a:defRPr>
            </a:pPr>
            <a:r>
              <a:t>2092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047488"/>
            <a:ext cx="127101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0">
                <a:solidFill>
                  <a:srgbClr val="62676F"/>
                </a:solidFill>
                <a:latin typeface="Microsoft YaHei"/>
              </a:defRPr>
            </a:pPr>
            <a:r>
              <a:t>EO 输出总条数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23160" y="4617720"/>
            <a:ext cx="1783080" cy="713232"/>
          </a:xfrm>
          <a:prstGeom prst="roundRect">
            <a:avLst>
              <a:gd name="adj" fmla="val 6000"/>
            </a:avLst>
          </a:prstGeom>
          <a:solidFill>
            <a:srgbClr val="EFF4F8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6312" y="4709159"/>
            <a:ext cx="163677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50" b="1">
                <a:solidFill>
                  <a:srgbClr val="1F4976"/>
                </a:solidFill>
                <a:latin typeface="Microsoft YaHei"/>
              </a:defRPr>
            </a:pPr>
            <a:r>
              <a:t>1084 / 1008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96312" y="5047488"/>
            <a:ext cx="163677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0">
                <a:solidFill>
                  <a:srgbClr val="62676F"/>
                </a:solidFill>
                <a:latin typeface="Microsoft YaHei"/>
              </a:defRPr>
            </a:pPr>
            <a:r>
              <a:t>两个目标 Topic 输出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4617720"/>
            <a:ext cx="1234440" cy="713232"/>
          </a:xfrm>
          <a:prstGeom prst="roundRect">
            <a:avLst>
              <a:gd name="adj" fmla="val 6000"/>
            </a:avLst>
          </a:prstGeom>
          <a:solidFill>
            <a:srgbClr val="EFF4F8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4709159"/>
            <a:ext cx="1088136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50" b="1">
                <a:solidFill>
                  <a:srgbClr val="1F4976"/>
                </a:solidFill>
                <a:latin typeface="Microsoft YaHei"/>
              </a:defRPr>
            </a:pPr>
            <a:r>
              <a:t>5 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5047488"/>
            <a:ext cx="108813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80" b="0">
                <a:solidFill>
                  <a:srgbClr val="62676F"/>
                </a:solidFill>
                <a:latin typeface="Microsoft YaHei"/>
              </a:defRPr>
            </a:pPr>
            <a:r>
              <a:t>EO 成功 Checkpoint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97880" y="2331720"/>
            <a:ext cx="2377440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44184" y="2441448"/>
            <a:ext cx="2121408" cy="210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8F1F24"/>
                </a:solidFill>
                <a:latin typeface="Microsoft YaHei"/>
              </a:defRPr>
            </a:pPr>
            <a:r>
              <a:t>结论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44184" y="2715768"/>
            <a:ext cx="2121408" cy="25328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23262C"/>
                </a:solidFill>
                <a:latin typeface="Microsoft YaHei"/>
              </a:defRPr>
            </a:pPr>
            <a:r>
              <a:t>满足“至少 5 次 Checkpoint 且两个目标 Topic 均产生 committed 输出”的判定标准；但尚不等同于复杂故障注入下的端到端精准一次证明。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30175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2676F"/>
                </a:solidFill>
                <a:latin typeface="Microsoft YaHe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300" b="1">
                <a:solidFill>
                  <a:srgbClr val="1F4976"/>
                </a:solidFill>
                <a:latin typeface="Microsoft YaHei"/>
              </a:defRPr>
            </a:pPr>
            <a:r>
              <a:rPr sz="2300" b="1">
                <a:solidFill>
                  <a:srgbClr val="1F4976"/>
                </a:solidFill>
                <a:latin typeface="Microsoft YaHei"/>
              </a:rPr>
              <a:t>对比分析：动态方案的价值与成本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79552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60" b="0">
                <a:solidFill>
                  <a:srgbClr val="62676F"/>
                </a:solidFill>
                <a:latin typeface="Microsoft YaHei"/>
              </a:defRPr>
            </a:pPr>
            <a:r>
              <a:t>相较静态 KafkaSink，本文以很小本地吞吐代价换取无重启目标适配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836676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ffline_updat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74519"/>
            <a:ext cx="3246120" cy="224028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51960" y="1874519"/>
          <a:ext cx="4206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</a:tblGrid>
              <a:tr h="502920"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静态 KafkaSink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本文 Dynamic Sink</a:t>
                      </a:r>
                    </a:p>
                  </a:txBody>
                  <a:tcPr marL="36576" marR="36576" marT="18288" marB="18288">
                    <a:solidFill>
                      <a:srgbClr val="1F497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目标绑定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构建阶段指定固定 Topic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运行期正则发现 + 逻辑 route 映射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变更方式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通常停机修改配置并重提作业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通过 metadata refresh / route update 接纳变化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状态粒度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固定目标 writer 状态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route 级 writer state + committable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运行成本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实现简单、开销低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0">
                          <a:solidFill>
                            <a:srgbClr val="23262C"/>
                          </a:solidFill>
                          <a:latin typeface="Microsoft YaHei"/>
                        </a:defRPr>
                      </a:pPr>
                      <a:r>
                        <a:t>需要元数据轮询、多 writer 管理和提交包装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4672" y="4663440"/>
            <a:ext cx="7498079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23262C"/>
                </a:solidFill>
                <a:latin typeface="Microsoft YaHei"/>
              </a:defRPr>
            </a:pPr>
            <a:r>
              <a:t>适用场景：Topic 集合长期稳定时静态 KafkaSink 更简单；Topic 频繁增删或迁移时动态 Sink 更有价值</a:t>
            </a:r>
          </a:p>
          <a:p>
            <a:pPr>
              <a:spcAft>
                <a:spcPts val="300"/>
              </a:spcAft>
              <a:defRPr sz="1019">
                <a:solidFill>
                  <a:srgbClr val="23262C"/>
                </a:solidFill>
                <a:latin typeface="Microsoft YaHei"/>
              </a:defRPr>
            </a:pPr>
            <a:r>
              <a:t>本文方案保留 KafkaSink 的成熟写入能力，同时补充运行期目标管理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30175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2676F"/>
                </a:solidFill>
                <a:latin typeface="Microsoft YaHe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300" b="1">
                <a:solidFill>
                  <a:srgbClr val="1F4976"/>
                </a:solidFill>
                <a:latin typeface="Microsoft YaHei"/>
              </a:defRPr>
            </a:pPr>
            <a:r>
              <a:rPr sz="2300" b="1">
                <a:solidFill>
                  <a:srgbClr val="1F4976"/>
                </a:solidFill>
                <a:latin typeface="Microsoft YaHei"/>
              </a:rPr>
              <a:t>总结：论文与代码形成闭环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79552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60" b="0">
                <a:solidFill>
                  <a:srgbClr val="62676F"/>
                </a:solidFill>
                <a:latin typeface="Microsoft YaHei"/>
              </a:defRPr>
            </a:pPr>
            <a:r>
              <a:t>当前原型完成了动态发现、路由解耦、route 级状态提交和本地实验验证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836676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901952"/>
            <a:ext cx="239572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011680"/>
            <a:ext cx="2139696" cy="210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8F1F24"/>
                </a:solidFill>
                <a:latin typeface="Microsoft YaHei"/>
              </a:defRPr>
            </a:pPr>
            <a:r>
              <a:t>贡献一：Sink 侧动态发现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286000"/>
            <a:ext cx="2139696" cy="5212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23262C"/>
                </a:solidFill>
                <a:latin typeface="Microsoft YaHei"/>
              </a:defRPr>
            </a:pPr>
            <a:r>
              <a:t>实现 Kafka 元数据轮询 + stream_pattern 匹配，新增 Topic 最大 2.418 s 内开始写入。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901952"/>
            <a:ext cx="239572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3864" y="2011680"/>
            <a:ext cx="2139696" cy="210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贡献二：逻辑路由解耦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3864" y="2286000"/>
            <a:ext cx="2139696" cy="5212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23262C"/>
                </a:solidFill>
                <a:latin typeface="Microsoft YaHei"/>
              </a:defRPr>
            </a:pPr>
            <a:r>
              <a:t>通过 DynamicSinkEvent / KafkaRouteDestination 将业务 routeId 与物理 Topic 分离，支持运行期更新。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1901952"/>
            <a:ext cx="2395728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44184" y="2011680"/>
            <a:ext cx="2139696" cy="210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贡献三：route 级容错提交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4184" y="2286000"/>
            <a:ext cx="2139696" cy="5212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30" b="0">
                <a:solidFill>
                  <a:srgbClr val="23262C"/>
                </a:solidFill>
                <a:latin typeface="Microsoft YaHei"/>
              </a:defRPr>
            </a:pPr>
            <a:r>
              <a:t>DynamicKafkaSinkWriterState 与 DynamicKafkaCommittable 让动态目标进入 Checkpoint 和 Committer。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91840"/>
            <a:ext cx="22860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19" b="1">
                <a:solidFill>
                  <a:srgbClr val="1F4976"/>
                </a:solidFill>
                <a:latin typeface="Microsoft YaHei"/>
              </a:defRPr>
            </a:pPr>
            <a:r>
              <a:t>实验结论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547872"/>
            <a:ext cx="530352" cy="32004"/>
          </a:xfrm>
          <a:prstGeom prst="rect">
            <a:avLst/>
          </a:prstGeom>
          <a:solidFill>
            <a:srgbClr val="1F4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675887"/>
            <a:ext cx="726948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030">
                <a:solidFill>
                  <a:srgbClr val="23262C"/>
                </a:solidFill>
                <a:latin typeface="Microsoft YaHei"/>
              </a:defRPr>
            </a:pPr>
            <a:r>
              <a:t>吞吐：动态 2-route 相对静态基线下降约 0.59%，低于 5% 阈值</a:t>
            </a:r>
          </a:p>
          <a:p>
            <a:pPr>
              <a:spcAft>
                <a:spcPts val="300"/>
              </a:spcAft>
              <a:defRPr sz="1030">
                <a:solidFill>
                  <a:srgbClr val="23262C"/>
                </a:solidFill>
                <a:latin typeface="Microsoft YaHei"/>
              </a:defRPr>
            </a:pPr>
            <a:r>
              <a:t>扩展：2-route 到 4-route 未出现吞吐下降，满足小规模扩展性指标</a:t>
            </a:r>
          </a:p>
          <a:p>
            <a:pPr>
              <a:spcAft>
                <a:spcPts val="300"/>
              </a:spcAft>
              <a:defRPr sz="1030">
                <a:solidFill>
                  <a:srgbClr val="23262C"/>
                </a:solidFill>
                <a:latin typeface="Microsoft YaHei"/>
              </a:defRPr>
            </a:pPr>
            <a:r>
              <a:t>Checkpoint：稳态时延约 18.2 ms，低于 100 ms 阈值</a:t>
            </a:r>
          </a:p>
          <a:p>
            <a:pPr>
              <a:spcAft>
                <a:spcPts val="300"/>
              </a:spcAft>
              <a:defRPr sz="1030">
                <a:solidFill>
                  <a:srgbClr val="23262C"/>
                </a:solidFill>
                <a:latin typeface="Microsoft YaHei"/>
              </a:defRPr>
            </a:pPr>
            <a:r>
              <a:t>事务：EXACTLY_ONCE 本地小规模路径完成 5 次 Checkpoint 且双 Topic 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0175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2676F"/>
                </a:solidFill>
                <a:latin typeface="Microsoft YaHe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2300" b="1">
                <a:solidFill>
                  <a:srgbClr val="1F4976"/>
                </a:solidFill>
                <a:latin typeface="Microsoft YaHei"/>
              </a:defRPr>
            </a:pPr>
            <a:r>
              <a:rPr sz="2300" b="1">
                <a:solidFill>
                  <a:srgbClr val="1F4976"/>
                </a:solidFill>
                <a:latin typeface="Microsoft YaHei"/>
              </a:rPr>
              <a:t>不足与展望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44752"/>
            <a:ext cx="79552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60" b="0">
                <a:solidFill>
                  <a:srgbClr val="62676F"/>
                </a:solidFill>
                <a:latin typeface="Microsoft YaHei"/>
              </a:defRPr>
            </a:pPr>
            <a:r>
              <a:t>当前成果是可运行原型，后续需要更完整的生产化验证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8366760" cy="4800600"/>
          </a:xfrm>
          <a:prstGeom prst="rect">
            <a:avLst/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920240"/>
            <a:ext cx="256032" cy="256032"/>
          </a:xfrm>
          <a:prstGeom prst="ellipse">
            <a:avLst/>
          </a:prstGeom>
          <a:solidFill>
            <a:srgbClr val="8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52244"/>
            <a:ext cx="256032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1901952"/>
            <a:ext cx="19659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元数据访问优化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901952"/>
            <a:ext cx="52120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23262C"/>
                </a:solidFill>
                <a:latin typeface="Microsoft YaHei"/>
              </a:defRPr>
            </a:pPr>
            <a:r>
              <a:t>当前依赖周期性 AdminClient.listTopics()；后续可引入缓存、增量发现和多集群元数据服务。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670048"/>
            <a:ext cx="256032" cy="256032"/>
          </a:xfrm>
          <a:prstGeom prst="ellipse">
            <a:avLst/>
          </a:prstGeom>
          <a:solidFill>
            <a:srgbClr val="1F4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02052"/>
            <a:ext cx="256032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651760"/>
            <a:ext cx="19659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资源生命周期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651760"/>
            <a:ext cx="52120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23262C"/>
                </a:solidFill>
                <a:latin typeface="Microsoft YaHei"/>
              </a:defRPr>
            </a:pPr>
            <a:r>
              <a:t>route 数增长会带来 writer/producer 资源压力；EO 路径下退役 writer 安全回收仍需完善。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419856"/>
            <a:ext cx="256032" cy="256032"/>
          </a:xfrm>
          <a:prstGeom prst="ellipse">
            <a:avLst/>
          </a:prstGeom>
          <a:solidFill>
            <a:srgbClr val="8F1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51860"/>
            <a:ext cx="256032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401568"/>
            <a:ext cx="19659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一致性验证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401568"/>
            <a:ext cx="52120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23262C"/>
                </a:solidFill>
                <a:latin typeface="Microsoft YaHei"/>
              </a:defRPr>
            </a:pPr>
            <a:r>
              <a:t>需要故障注入、任务恢复、事务超时、read_committed 消费校验等端到端测试。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169663"/>
            <a:ext cx="256032" cy="256032"/>
          </a:xfrm>
          <a:prstGeom prst="ellipse">
            <a:avLst/>
          </a:prstGeom>
          <a:solidFill>
            <a:srgbClr val="1F4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01668"/>
            <a:ext cx="256032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72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4151376"/>
            <a:ext cx="1965960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1F4976"/>
                </a:solidFill>
                <a:latin typeface="Microsoft YaHei"/>
              </a:defRPr>
            </a:pPr>
            <a:r>
              <a:t>性能评估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151376"/>
            <a:ext cx="5212079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0">
                <a:solidFill>
                  <a:srgbClr val="23262C"/>
                </a:solidFill>
                <a:latin typeface="Microsoft YaHei"/>
              </a:defRPr>
            </a:pPr>
            <a:r>
              <a:t>扩展到更高并行度、更多 route、更长运行时间和真实数据流，区分 Kafka 瓶颈与动态管理开销。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074920"/>
            <a:ext cx="740664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A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" y="5184648"/>
            <a:ext cx="7150607" cy="2103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20" b="1">
                <a:solidFill>
                  <a:srgbClr val="8F1F24"/>
                </a:solidFill>
                <a:latin typeface="Microsoft YaHei"/>
              </a:defRPr>
            </a:pPr>
            <a:r>
              <a:t>答辩时的边界表述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5458968"/>
            <a:ext cx="7150607" cy="1280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19" b="0">
                <a:solidFill>
                  <a:srgbClr val="23262C"/>
                </a:solidFill>
                <a:latin typeface="Microsoft YaHei"/>
              </a:defRPr>
            </a:pPr>
            <a:r>
              <a:t>本文证明的是本地单机、小规模 route 场景下动态 Kafka Sink 机制可行；生产级 SLA 和复杂故障场景属于后续工程化工作。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1752"/>
            <a:ext cx="3840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850" b="0">
                <a:solidFill>
                  <a:srgbClr val="62676F"/>
                </a:solidFill>
                <a:latin typeface="Microsoft YaHe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defRPr sz="3000" b="1">
                <a:solidFill>
                  <a:srgbClr val="1F4976"/>
                </a:solidFill>
                <a:latin typeface="Microsoft YaHei"/>
              </a:defRPr>
            </a:pPr>
            <a:r>
              <a:rPr sz="3000" b="1">
                <a:solidFill>
                  <a:srgbClr val="1F4976"/>
                </a:solidFill>
                <a:latin typeface="Microsoft YaHei"/>
              </a:rPr>
              <a:t>谢谢各位老师</a:t>
            </a:r>
          </a:p>
          <a:p>
            <a:pPr>
              <a:defRPr sz="3000" b="1">
                <a:solidFill>
                  <a:srgbClr val="1F4976"/>
                </a:solidFill>
                <a:latin typeface="Microsoft YaHei"/>
              </a:defRPr>
            </a:pPr>
            <a:r>
              <a:rPr sz="3000" b="1">
                <a:solidFill>
                  <a:srgbClr val="1F4976"/>
                </a:solidFill>
                <a:latin typeface="Microsoft YaHei"/>
              </a:rPr>
              <a:t>欢迎批评指正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16-VI主题-蓝">
  <a:themeElements>
    <a:clrScheme name="VI蓝色版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004098"/>
      </a:accent1>
      <a:accent2>
        <a:srgbClr val="0086D1"/>
      </a:accent2>
      <a:accent3>
        <a:srgbClr val="338D27"/>
      </a:accent3>
      <a:accent4>
        <a:srgbClr val="00514E"/>
      </a:accent4>
      <a:accent5>
        <a:srgbClr val="FDD000"/>
      </a:accent5>
      <a:accent6>
        <a:srgbClr val="F08300"/>
      </a:accent6>
      <a:hlink>
        <a:srgbClr val="B5B5B6"/>
      </a:hlink>
      <a:folHlink>
        <a:srgbClr val="BD9F68"/>
      </a:folHlink>
    </a:clrScheme>
    <a:fontScheme name="自定义 7">
      <a:majorFont>
        <a:latin typeface="等线"/>
        <a:ea typeface="等线"/>
        <a:cs typeface=""/>
      </a:majorFont>
      <a:minorFont>
        <a:latin typeface="等线 Light"/>
        <a:ea typeface="等线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16-VI主题-蓝" id="{1B918C6D-2D61-4306-88BA-3CA31BAAF13F}" vid="{A734D909-B61D-48C4-8B37-4CE49734400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2016-VI主题-蓝</Template>
  <TotalTime>931</TotalTime>
  <Words>1121</Words>
  <Application>Microsoft Office PowerPoint</Application>
  <PresentationFormat>全屏显示(4:3)</PresentationFormat>
  <Paragraphs>192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等线</vt:lpstr>
      <vt:lpstr>等线 Light</vt:lpstr>
      <vt:lpstr>微软雅黑</vt:lpstr>
      <vt:lpstr>Arial</vt:lpstr>
      <vt:lpstr>Calibri</vt:lpstr>
      <vt:lpstr>2016-VI主题-蓝</vt:lpstr>
      <vt:lpstr>上海交通大学PPT模板（学术）</vt:lpstr>
      <vt:lpstr>标题页第二版以及应用实例（学术）</vt:lpstr>
      <vt:lpstr>目录 Contents</vt:lpstr>
      <vt:lpstr>目录 Contents</vt:lpstr>
      <vt:lpstr>关于模板的使用说明</vt:lpstr>
      <vt:lpstr>关于模板的使用说明</vt:lpstr>
      <vt:lpstr>目录 Contents</vt:lpstr>
      <vt:lpstr>标题内容标题内容</vt:lpstr>
      <vt:lpstr>纯标题页面标题内容</vt:lpstr>
      <vt:lpstr>极简版内页</vt:lpstr>
      <vt:lpstr>PowerPoint 演示文稿</vt:lpstr>
      <vt:lpstr>标题内容标题内容</vt:lpstr>
      <vt:lpstr>比较内容标题</vt:lpstr>
      <vt:lpstr>目录 Contents</vt:lpstr>
      <vt:lpstr>标题内容标题内容</vt:lpstr>
      <vt:lpstr>纯标题页面标题内容</vt:lpstr>
      <vt:lpstr>极简版内页-有页码</vt:lpstr>
      <vt:lpstr>PowerPoint 演示文稿</vt:lpstr>
      <vt:lpstr>标题内容标题内容</vt:lpstr>
      <vt:lpstr>比较内容标题</vt:lpstr>
      <vt:lpstr>目录 Contents</vt:lpstr>
      <vt:lpstr>可仅使用蓝色</vt:lpstr>
      <vt:lpstr>可使用多色搭配</vt:lpstr>
      <vt:lpstr>可使用VI辅助图形</vt:lpstr>
      <vt:lpstr>目录 Contents</vt:lpstr>
      <vt:lpstr>PowerPoint 演示文稿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沈小丹</dc:creator>
  <cp:lastModifiedBy>沈小丹</cp:lastModifiedBy>
  <cp:revision>46</cp:revision>
  <dcterms:created xsi:type="dcterms:W3CDTF">2016-04-20T02:59:17Z</dcterms:created>
  <dcterms:modified xsi:type="dcterms:W3CDTF">2016-04-27T02:53:35Z</dcterms:modified>
</cp:coreProperties>
</file>